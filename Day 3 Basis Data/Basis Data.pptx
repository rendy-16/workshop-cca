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65" r:id="rId11"/>
    <p:sldId id="270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1002" y="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3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3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17.png"/><Relationship Id="rId4" Type="http://schemas.openxmlformats.org/officeDocument/2006/relationships/image" Target="../media/image26.png"/><Relationship Id="rId9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Google Shape;86;p13">
            <a:extLst>
              <a:ext uri="{FF2B5EF4-FFF2-40B4-BE49-F238E27FC236}">
                <a16:creationId xmlns:a16="http://schemas.microsoft.com/office/drawing/2014/main" id="{B4FF6A30-368A-6BA7-8E2E-59668F4E3191}"/>
              </a:ext>
            </a:extLst>
          </p:cNvPr>
          <p:cNvSpPr txBox="1"/>
          <p:nvPr/>
        </p:nvSpPr>
        <p:spPr>
          <a:xfrm>
            <a:off x="4545087" y="3121815"/>
            <a:ext cx="3101826" cy="769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Basis Data</a:t>
            </a:r>
            <a:endParaRPr dirty="0"/>
          </a:p>
        </p:txBody>
      </p:sp>
      <p:sp>
        <p:nvSpPr>
          <p:cNvPr id="12" name="Google Shape;87;p13">
            <a:extLst>
              <a:ext uri="{FF2B5EF4-FFF2-40B4-BE49-F238E27FC236}">
                <a16:creationId xmlns:a16="http://schemas.microsoft.com/office/drawing/2014/main" id="{3580A34B-5867-A2F4-A2D1-4F245AA36D8A}"/>
              </a:ext>
            </a:extLst>
          </p:cNvPr>
          <p:cNvSpPr txBox="1"/>
          <p:nvPr/>
        </p:nvSpPr>
        <p:spPr>
          <a:xfrm>
            <a:off x="2286000" y="5105189"/>
            <a:ext cx="7620000" cy="35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Rendi Pratama</a:t>
            </a:r>
            <a:endParaRPr dirty="0"/>
          </a:p>
        </p:txBody>
      </p:sp>
      <p:sp>
        <p:nvSpPr>
          <p:cNvPr id="28" name="Google Shape;95;p13">
            <a:extLst>
              <a:ext uri="{FF2B5EF4-FFF2-40B4-BE49-F238E27FC236}">
                <a16:creationId xmlns:a16="http://schemas.microsoft.com/office/drawing/2014/main" id="{ECD46431-98C5-E64D-4C8C-984EFA5CACB9}"/>
              </a:ext>
            </a:extLst>
          </p:cNvPr>
          <p:cNvSpPr txBox="1"/>
          <p:nvPr/>
        </p:nvSpPr>
        <p:spPr>
          <a:xfrm>
            <a:off x="5600700" y="4403925"/>
            <a:ext cx="5050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DEFF9A"/>
                </a:solidFill>
                <a:latin typeface="Fira Code"/>
                <a:ea typeface="Fira Code"/>
                <a:cs typeface="Fira Code"/>
                <a:sym typeface="Fira Code"/>
              </a:rPr>
              <a:t>				</a:t>
            </a:r>
            <a:endParaRPr sz="1050" dirty="0">
              <a:solidFill>
                <a:srgbClr val="DEFF9A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" name="Google Shape;96;p13">
            <a:extLst>
              <a:ext uri="{FF2B5EF4-FFF2-40B4-BE49-F238E27FC236}">
                <a16:creationId xmlns:a16="http://schemas.microsoft.com/office/drawing/2014/main" id="{40B954E4-F177-1058-63BF-404262BCD990}"/>
              </a:ext>
            </a:extLst>
          </p:cNvPr>
          <p:cNvSpPr txBox="1"/>
          <p:nvPr/>
        </p:nvSpPr>
        <p:spPr>
          <a:xfrm>
            <a:off x="7366825" y="4403930"/>
            <a:ext cx="5050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rgbClr val="DEFF9A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AB64B7F-B761-C1D0-CC40-E335BEBEA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465" y="186248"/>
            <a:ext cx="673390" cy="73641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E207C04-E88C-0FCE-9149-09D39576A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398" y="186248"/>
            <a:ext cx="2560953" cy="73641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2BC61ED-F5E3-4176-26C1-CE26614EDC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948" y="186248"/>
            <a:ext cx="648502" cy="7364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30660"/>
            <a:ext cx="5362575" cy="2505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430660"/>
            <a:ext cx="5362575" cy="2647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7250" y="2706885"/>
            <a:ext cx="505063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D4AA"/>
                </a:solidFill>
                <a:latin typeface="Plus Jakarta Sans"/>
              </a:rPr>
              <a:t>Definisi &amp; Peran Basis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059310"/>
            <a:ext cx="48101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A0A0A0"/>
                </a:solidFill>
                <a:latin typeface="Plus Jakarta Sans"/>
              </a:rPr>
              <a:t>Basis Data:</a:t>
            </a:r>
            <a:r>
              <a:rPr sz="1200" b="0" i="0" u="none">
                <a:solidFill>
                  <a:srgbClr val="A0A0A0"/>
                </a:solidFill>
                <a:latin typeface="Plus Jakarta Sans"/>
              </a:rPr>
              <a:t> Kumpulan data yang terorganisir, terintegrasi, dan disimpan secara terstruktur agar mudah diakses dan dikelola.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630810"/>
            <a:ext cx="48101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A0A0A0"/>
                </a:solidFill>
                <a:latin typeface="Plus Jakarta Sans"/>
              </a:rPr>
              <a:t>DBMS:</a:t>
            </a:r>
            <a:r>
              <a:rPr sz="1200" b="0" i="0" u="none">
                <a:solidFill>
                  <a:srgbClr val="A0A0A0"/>
                </a:solidFill>
                <a:latin typeface="Plus Jakarta Sans"/>
              </a:rPr>
              <a:t> Perangkat lunak utama pengelola basis data yang menjamin keamanan, efisiensi pencarian, serta integritas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202310"/>
            <a:ext cx="48101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A0A0A0"/>
                </a:solidFill>
                <a:latin typeface="Plus Jakarta Sans"/>
              </a:rPr>
              <a:t>Manfaat Utama:</a:t>
            </a:r>
            <a:r>
              <a:rPr sz="1200" b="0" i="0" u="none">
                <a:solidFill>
                  <a:srgbClr val="A0A0A0"/>
                </a:solidFill>
                <a:latin typeface="Plus Jakarta Sans"/>
              </a:rPr>
              <a:t> Menghindari duplikasi data, menyediakan akses bersama (multi-user), serta menjamin pemulihan data yang handal.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2706885"/>
            <a:ext cx="505063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D4AA"/>
                </a:solidFill>
                <a:latin typeface="Plus Jakarta Sans"/>
              </a:rPr>
              <a:t>Komponen Utama Sistem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1325" y="3059310"/>
            <a:ext cx="45434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Plus Jakarta Sans"/>
              </a:rPr>
              <a:t>Hardware &amp; OS:</a:t>
            </a:r>
            <a:r>
              <a:rPr sz="1125" b="0" i="0" u="none">
                <a:solidFill>
                  <a:srgbClr val="B0B0B0"/>
                </a:solidFill>
                <a:latin typeface="Plus Jakarta Sans"/>
              </a:rPr>
              <a:t> Perangkat keras server dan sistem operasi sebagai lingkungan eksekusi utama.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1325" y="3640335"/>
            <a:ext cx="45434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Plus Jakarta Sans"/>
              </a:rPr>
              <a:t>Database Engine:</a:t>
            </a:r>
            <a:r>
              <a:rPr sz="1125" b="0" i="0" u="none">
                <a:solidFill>
                  <a:srgbClr val="B0B0B0"/>
                </a:solidFill>
                <a:latin typeface="Plus Jakarta Sans"/>
              </a:rPr>
              <a:t> Komponen inti pemrosesan kueri, indexing, dan transaksi (e.g. MySQL, MariaDB).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1325" y="4221360"/>
            <a:ext cx="45434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Plus Jakarta Sans"/>
              </a:rPr>
              <a:t>Data Access Language:</a:t>
            </a:r>
            <a:r>
              <a:rPr sz="1125" b="0" i="0" u="none">
                <a:solidFill>
                  <a:srgbClr val="B0B0B0"/>
                </a:solidFill>
                <a:latin typeface="Plus Jakarta Sans"/>
              </a:rPr>
              <a:t> Bahasa standar SQL untuk instruksi DDL, DML, DQL, dan DCL.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3097410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3678435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4259460"/>
            <a:ext cx="1905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3425" y="485775"/>
            <a:ext cx="11421427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KONSEP DASAR BASIS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485775"/>
            <a:ext cx="28575" cy="36567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AB925FF-E387-2C2E-A381-9C48CB078808}"/>
              </a:ext>
            </a:extLst>
          </p:cNvPr>
          <p:cNvGrpSpPr>
            <a:grpSpLocks noChangeAspect="1"/>
          </p:cNvGrpSpPr>
          <p:nvPr/>
        </p:nvGrpSpPr>
        <p:grpSpPr>
          <a:xfrm>
            <a:off x="300811" y="6321601"/>
            <a:ext cx="1812071" cy="305438"/>
            <a:chOff x="284948" y="186248"/>
            <a:chExt cx="4368907" cy="73641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0E87BBE-A5B9-A14B-5232-C9EBF9447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980465" y="186248"/>
              <a:ext cx="673390" cy="736411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AF60D27-7EC4-0789-CC6A-2FE7621E86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18398" y="186248"/>
              <a:ext cx="2560953" cy="736411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16B36B9-EDC5-6D86-0377-20DA5029B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84948" y="186248"/>
              <a:ext cx="648502" cy="7364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1953220"/>
            <a:ext cx="53625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A0A0A0"/>
                </a:solidFill>
                <a:latin typeface="Plus Jakarta Sans"/>
              </a:rPr>
              <a:t>DDL (Data Definition Language)</a:t>
            </a:r>
            <a:r>
              <a:rPr sz="1200" b="0" i="0" u="none">
                <a:solidFill>
                  <a:srgbClr val="A0A0A0"/>
                </a:solidFill>
                <a:latin typeface="Plus Jakarta Sans"/>
              </a:rPr>
              <a:t> digunakan untuk mendefinisikan dan mengelola struktur objek pada basis data seperti tabel, indeks, dan skema relasi.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725" y="2772370"/>
            <a:ext cx="50958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Plus Jakarta Sans"/>
              </a:rPr>
              <a:t>CREATE:</a:t>
            </a:r>
            <a:r>
              <a:rPr sz="1125" b="0" i="0" u="none">
                <a:solidFill>
                  <a:srgbClr val="B0B0B0"/>
                </a:solidFill>
                <a:latin typeface="Plus Jakarta Sans"/>
              </a:rPr>
              <a:t> Membuat database, tabel, atau view baru.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" y="3139082"/>
            <a:ext cx="50958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Plus Jakarta Sans"/>
              </a:rPr>
              <a:t>ALTER:</a:t>
            </a:r>
            <a:r>
              <a:rPr sz="1125" b="0" i="0" u="none">
                <a:solidFill>
                  <a:srgbClr val="B0B0B0"/>
                </a:solidFill>
                <a:latin typeface="Plus Jakarta Sans"/>
              </a:rPr>
              <a:t> Mengubah struktur tabel (tambah/hapus kolom, ubah tipe data).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505795"/>
            <a:ext cx="50958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Plus Jakarta Sans"/>
              </a:rPr>
              <a:t>DROP &amp; TRUNCATE:</a:t>
            </a:r>
            <a:r>
              <a:rPr sz="1125" b="0" i="0" u="none">
                <a:solidFill>
                  <a:srgbClr val="B0B0B0"/>
                </a:solidFill>
                <a:latin typeface="Plus Jakarta Sans"/>
              </a:rPr>
              <a:t> Menghapus tabel permanen atau mengosongkan seluruh baris record.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8425" y="2124670"/>
            <a:ext cx="2571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1" u="none">
                <a:solidFill>
                  <a:srgbClr val="6A737D"/>
                </a:solidFill>
                <a:latin typeface="JetBrains Mono"/>
              </a:rPr>
              <a:t>-- 1. Membuat Database Baru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8425" y="2353270"/>
            <a:ext cx="1428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CREATE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425" y="2581870"/>
            <a:ext cx="285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8425" y="2989064"/>
            <a:ext cx="3238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1" u="none">
                <a:solidFill>
                  <a:srgbClr val="6A737D"/>
                </a:solidFill>
                <a:latin typeface="JetBrains Mono"/>
              </a:rPr>
              <a:t>-- 2. Membuat Tabel Utama (Master)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3217664"/>
            <a:ext cx="1143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CREATE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8025" y="3446264"/>
            <a:ext cx="666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VARCHAR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5775" y="3446264"/>
            <a:ext cx="1047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PRIMARY 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3825" y="3674864"/>
            <a:ext cx="666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VARCHAR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7775" y="3674864"/>
            <a:ext cx="762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NOT NULL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0425" y="3903464"/>
            <a:ext cx="666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VARCHAR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4375" y="3903464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UNIQUE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10425" y="4132064"/>
            <a:ext cx="666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VARCHAR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4717851"/>
            <a:ext cx="2762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1" u="none">
                <a:solidFill>
                  <a:srgbClr val="6A737D"/>
                </a:solidFill>
                <a:latin typeface="JetBrains Mono"/>
              </a:rPr>
              <a:t>-- 3. Mengubah Struktur Tabel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4946451"/>
            <a:ext cx="1047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ALTER 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425" y="5175051"/>
            <a:ext cx="952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ADD COLUMN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525" y="5175051"/>
            <a:ext cx="381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TEXT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810470"/>
            <a:ext cx="1524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177182"/>
            <a:ext cx="1524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543895"/>
            <a:ext cx="133350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33425" y="485775"/>
            <a:ext cx="11421427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DATA DEFINITION LANGUAGE (DDL)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1025" y="485775"/>
            <a:ext cx="28575" cy="36567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30270D8-6B7B-37C8-F4C4-C303F7D9A217}"/>
              </a:ext>
            </a:extLst>
          </p:cNvPr>
          <p:cNvGrpSpPr>
            <a:grpSpLocks noChangeAspect="1"/>
          </p:cNvGrpSpPr>
          <p:nvPr/>
        </p:nvGrpSpPr>
        <p:grpSpPr>
          <a:xfrm>
            <a:off x="300811" y="6321601"/>
            <a:ext cx="1812071" cy="305438"/>
            <a:chOff x="284948" y="186248"/>
            <a:chExt cx="4368907" cy="736411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57FA518-8E9E-EDB4-FA1C-C4510989CC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80465" y="186248"/>
              <a:ext cx="673390" cy="736411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E9ECDB7-054C-3EB9-9242-D866FC6D7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18398" y="186248"/>
              <a:ext cx="2560953" cy="736411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3BB00D7E-3FD0-9081-4B2C-DDFDBEB89D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84948" y="186248"/>
              <a:ext cx="648502" cy="7364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2979"/>
            <a:ext cx="5210175" cy="2800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32979"/>
            <a:ext cx="5514975" cy="36433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7250" y="2209204"/>
            <a:ext cx="489061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D4AA"/>
                </a:solidFill>
                <a:latin typeface="Plus Jakarta Sans"/>
              </a:rPr>
              <a:t>Penjelasan &amp; Konsep DML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561629"/>
            <a:ext cx="46577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A0A0A0"/>
                </a:solidFill>
                <a:latin typeface="Plus Jakarta Sans"/>
              </a:rPr>
              <a:t>DML (Data Manipulation Language)</a:t>
            </a:r>
            <a:r>
              <a:rPr sz="1200" b="0" i="0" u="none">
                <a:solidFill>
                  <a:srgbClr val="A0A0A0"/>
                </a:solidFill>
                <a:latin typeface="Plus Jakarta Sans"/>
              </a:rPr>
              <a:t> bertanggung jawab atas pengelolaan record atau isi baris data di dalam tabel basis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2225" y="2209204"/>
            <a:ext cx="521065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D4AA"/>
                </a:solidFill>
                <a:latin typeface="Plus Jakarta Sans"/>
              </a:rPr>
              <a:t>Contoh Query Implementasi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3950" y="3133129"/>
            <a:ext cx="43910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Plus Jakarta Sans"/>
              </a:rPr>
              <a:t>INSERT:</a:t>
            </a:r>
            <a:r>
              <a:rPr sz="1125" b="0" i="0" u="none">
                <a:solidFill>
                  <a:srgbClr val="B0B0B0"/>
                </a:solidFill>
                <a:latin typeface="Plus Jakarta Sans"/>
              </a:rPr>
              <a:t> Menambahkan tuple/record baru ke dalam tabel.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" y="3499842"/>
            <a:ext cx="43910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Plus Jakarta Sans"/>
              </a:rPr>
              <a:t>UPDATE:</a:t>
            </a:r>
            <a:r>
              <a:rPr sz="1125" b="0" i="0" u="none">
                <a:solidFill>
                  <a:srgbClr val="B0B0B0"/>
                </a:solidFill>
                <a:latin typeface="Plus Jakarta Sans"/>
              </a:rPr>
              <a:t> Memperbarui nilai data yang sudah tersimpan berdasarkan kondisi klausa WHERE.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50" y="4090392"/>
            <a:ext cx="43910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FFFFF"/>
                </a:solidFill>
                <a:latin typeface="Plus Jakarta Sans"/>
              </a:rPr>
              <a:t>DELETE:</a:t>
            </a:r>
            <a:r>
              <a:rPr sz="1125" b="0" i="0" u="none">
                <a:solidFill>
                  <a:srgbClr val="B0B0B0"/>
                </a:solidFill>
                <a:latin typeface="Plus Jakarta Sans"/>
              </a:rPr>
              <a:t> Menghapus record spesifik dari tabel secara terisolasi.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250" y="2733079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1" u="none">
                <a:solidFill>
                  <a:srgbClr val="6A737D"/>
                </a:solidFill>
                <a:latin typeface="JetBrains Mono"/>
              </a:rPr>
              <a:t>-- Insert data baru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0" y="2961679"/>
            <a:ext cx="1047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INSERT INTO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0" y="3190279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3190279"/>
            <a:ext cx="123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A5D6FF"/>
                </a:solidFill>
                <a:latin typeface="JetBrains Mono"/>
              </a:rPr>
              <a:t>'13020260001'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190279"/>
            <a:ext cx="1333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A5D6FF"/>
                </a:solidFill>
                <a:latin typeface="JetBrains Mono"/>
              </a:rPr>
              <a:t>'Andi Saputra'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72700" y="3190279"/>
            <a:ext cx="1524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A5D6FF"/>
                </a:solidFill>
                <a:latin typeface="JetBrains Mono"/>
              </a:rPr>
              <a:t>'andi@umi.ac.id'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0" y="3597473"/>
            <a:ext cx="2190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1" u="none">
                <a:solidFill>
                  <a:srgbClr val="6A737D"/>
                </a:solidFill>
                <a:latin typeface="JetBrains Mono"/>
              </a:rPr>
              <a:t>-- Update data spesifik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0" y="3826073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0" y="4054673"/>
            <a:ext cx="285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054673"/>
            <a:ext cx="2286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A5D6FF"/>
                </a:solidFill>
                <a:latin typeface="JetBrains Mono"/>
              </a:rPr>
              <a:t>'andi.saputra@umi.ac.id'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2250" y="4283273"/>
            <a:ext cx="476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WHERE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1900" y="4283273"/>
            <a:ext cx="123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A5D6FF"/>
                </a:solidFill>
                <a:latin typeface="JetBrains Mono"/>
              </a:rPr>
              <a:t>'13020260001'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2250" y="4690467"/>
            <a:ext cx="3333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1" u="none">
                <a:solidFill>
                  <a:srgbClr val="6A737D"/>
                </a:solidFill>
                <a:latin typeface="JetBrains Mono"/>
              </a:rPr>
              <a:t>-- Delete record berdasarkan syarat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2250" y="4919067"/>
            <a:ext cx="1047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DELETE FROM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5800" y="4919067"/>
            <a:ext cx="476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WHERE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5450" y="4919067"/>
            <a:ext cx="123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A5D6FF"/>
                </a:solidFill>
                <a:latin typeface="JetBrains Mono"/>
              </a:rPr>
              <a:t>'13020260001'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425" y="485775"/>
            <a:ext cx="11421427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DATA MANIPULATION LANGUAGE (DML)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1025" y="485775"/>
            <a:ext cx="28575" cy="36567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8DB3E2D-7563-5F0C-70E9-69CAB283B0B8}"/>
              </a:ext>
            </a:extLst>
          </p:cNvPr>
          <p:cNvGrpSpPr>
            <a:grpSpLocks noChangeAspect="1"/>
          </p:cNvGrpSpPr>
          <p:nvPr/>
        </p:nvGrpSpPr>
        <p:grpSpPr>
          <a:xfrm>
            <a:off x="300811" y="6321601"/>
            <a:ext cx="1812071" cy="305438"/>
            <a:chOff x="284948" y="186248"/>
            <a:chExt cx="4368907" cy="736411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974AD17-447B-FC45-8864-140EDB85AE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80465" y="186248"/>
              <a:ext cx="673390" cy="736411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187EA3E0-BCEA-F7E5-4B91-79FF1A8437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18398" y="186248"/>
              <a:ext cx="2560953" cy="736411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A255A667-1FCB-F53A-997A-471D2E845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4948" y="186248"/>
              <a:ext cx="648502" cy="7364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2206823"/>
            <a:ext cx="5362575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A0A0A0"/>
                </a:solidFill>
                <a:latin typeface="Plus Jakarta Sans"/>
              </a:rPr>
              <a:t>DQL (Data Query Language)</a:t>
            </a:r>
            <a:r>
              <a:rPr sz="1200" b="0" i="0" u="none">
                <a:solidFill>
                  <a:srgbClr val="A0A0A0"/>
                </a:solidFill>
                <a:latin typeface="Plus Jakarta Sans"/>
              </a:rPr>
              <a:t> fokus pada pencarian dan penyaringan data (klausa SELECT). Operasi </a:t>
            </a:r>
            <a:r>
              <a:rPr sz="1200" b="1" i="0" u="none">
                <a:solidFill>
                  <a:srgbClr val="A0A0A0"/>
                </a:solidFill>
                <a:latin typeface="Plus Jakarta Sans"/>
              </a:rPr>
              <a:t>JOIN</a:t>
            </a:r>
            <a:r>
              <a:rPr sz="1200" b="0" i="0" u="none">
                <a:solidFill>
                  <a:srgbClr val="A0A0A0"/>
                </a:solidFill>
                <a:latin typeface="Plus Jakarta Sans"/>
              </a:rPr>
              <a:t> mengombinasikan data dari dua tabel atau lebih berdasarkan kunci relasi (PK &amp; FK).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725" y="3035498"/>
            <a:ext cx="50958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FFFFFF"/>
                </a:solidFill>
                <a:latin typeface="Plus Jakarta Sans"/>
              </a:rPr>
              <a:t>INNER JOIN: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B0B0B0"/>
                </a:solidFill>
                <a:latin typeface="Plus Jakarta Sans"/>
              </a:rPr>
              <a:t>Menampilkan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B0B0B0"/>
                </a:solidFill>
                <a:latin typeface="Plus Jakarta Sans"/>
              </a:rPr>
              <a:t>pencocokan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 data yang </a:t>
            </a:r>
            <a:r>
              <a:rPr sz="1125" b="0" i="0" u="none" dirty="0" err="1">
                <a:solidFill>
                  <a:srgbClr val="B0B0B0"/>
                </a:solidFill>
                <a:latin typeface="Plus Jakarta Sans"/>
              </a:rPr>
              <a:t>ada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 di </a:t>
            </a:r>
            <a:r>
              <a:rPr sz="1125" b="0" i="0" u="none" dirty="0" err="1">
                <a:solidFill>
                  <a:srgbClr val="B0B0B0"/>
                </a:solidFill>
                <a:latin typeface="Plus Jakarta Sans"/>
              </a:rPr>
              <a:t>kedua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B0B0B0"/>
                </a:solidFill>
                <a:latin typeface="Plus Jakarta Sans"/>
              </a:rPr>
              <a:t>tabel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" y="3402210"/>
            <a:ext cx="50958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FFFFFF"/>
                </a:solidFill>
                <a:latin typeface="Plus Jakarta Sans"/>
              </a:rPr>
              <a:t>LEFT JOIN: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B0B0B0"/>
                </a:solidFill>
                <a:latin typeface="Plus Jakarta Sans"/>
              </a:rPr>
              <a:t>Menampilkan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B0B0B0"/>
                </a:solidFill>
                <a:latin typeface="Plus Jakarta Sans"/>
              </a:rPr>
              <a:t>seluruh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 baris </a:t>
            </a:r>
            <a:r>
              <a:rPr sz="1125" b="0" i="0" u="none" dirty="0" err="1">
                <a:solidFill>
                  <a:srgbClr val="B0B0B0"/>
                </a:solidFill>
                <a:latin typeface="Plus Jakarta Sans"/>
              </a:rPr>
              <a:t>dari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B0B0B0"/>
                </a:solidFill>
                <a:latin typeface="Plus Jakarta Sans"/>
              </a:rPr>
              <a:t>tabel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 kiri dan data </a:t>
            </a:r>
            <a:r>
              <a:rPr sz="1125" b="0" i="0" u="none" dirty="0" err="1">
                <a:solidFill>
                  <a:srgbClr val="B0B0B0"/>
                </a:solidFill>
                <a:latin typeface="Plus Jakarta Sans"/>
              </a:rPr>
              <a:t>pasangannya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B0B0B0"/>
                </a:solidFill>
                <a:latin typeface="Plus Jakarta Sans"/>
              </a:rPr>
              <a:t>dari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B0B0B0"/>
                </a:solidFill>
                <a:latin typeface="Plus Jakarta Sans"/>
              </a:rPr>
              <a:t>tabel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B0B0B0"/>
                </a:solidFill>
                <a:latin typeface="Plus Jakarta Sans"/>
              </a:rPr>
              <a:t>kanan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8425" y="2378273"/>
            <a:ext cx="3429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1" u="none">
                <a:solidFill>
                  <a:srgbClr val="6A737D"/>
                </a:solidFill>
                <a:latin typeface="JetBrains Mono"/>
              </a:rPr>
              <a:t>-- Query Pencarian &amp; Filtering (DQL)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8425" y="2606873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8425" y="2835473"/>
            <a:ext cx="381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FROM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425" y="3064073"/>
            <a:ext cx="476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8075" y="3064073"/>
            <a:ext cx="1047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IS NOT NULL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3471267"/>
            <a:ext cx="3714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1" u="none">
                <a:solidFill>
                  <a:srgbClr val="6A737D"/>
                </a:solidFill>
                <a:latin typeface="JetBrains Mono"/>
              </a:rPr>
              <a:t>-- Relasi Multi-Tabel dengan INNER JOIN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8425" y="3699867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SELECT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4464248"/>
            <a:ext cx="381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FROM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4692848"/>
            <a:ext cx="381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JOIN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7625" y="4692848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4921448"/>
            <a:ext cx="476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WHERE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3045639"/>
            <a:ext cx="1905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429000"/>
            <a:ext cx="13335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3425" y="485775"/>
            <a:ext cx="11421427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DQL &amp; OPERASI JOIN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1025" y="485775"/>
            <a:ext cx="28575" cy="36567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BD93124-2B5A-71B6-4DB0-9437B0F57044}"/>
              </a:ext>
            </a:extLst>
          </p:cNvPr>
          <p:cNvGrpSpPr>
            <a:grpSpLocks noChangeAspect="1"/>
          </p:cNvGrpSpPr>
          <p:nvPr/>
        </p:nvGrpSpPr>
        <p:grpSpPr>
          <a:xfrm>
            <a:off x="300811" y="6321601"/>
            <a:ext cx="1812071" cy="305438"/>
            <a:chOff x="284948" y="186248"/>
            <a:chExt cx="4368907" cy="73641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445ED172-2835-614F-4C95-3DF534800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80465" y="186248"/>
              <a:ext cx="673390" cy="736411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62B69227-E780-328A-64E7-4472E1659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18398" y="186248"/>
              <a:ext cx="2560953" cy="736411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A9FC111-918D-1ED4-E44A-980826D4BC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4948" y="186248"/>
              <a:ext cx="648502" cy="736411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9F83517-3017-B47A-1FED-7CAD202BD9E3}"/>
              </a:ext>
            </a:extLst>
          </p:cNvPr>
          <p:cNvSpPr txBox="1"/>
          <p:nvPr/>
        </p:nvSpPr>
        <p:spPr>
          <a:xfrm>
            <a:off x="847725" y="3987105"/>
            <a:ext cx="51720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b="1" i="0" u="none" dirty="0">
                <a:solidFill>
                  <a:srgbClr val="FFFFFF"/>
                </a:solidFill>
                <a:latin typeface="Plus Jakarta Sans"/>
              </a:rPr>
              <a:t>RIGHT</a:t>
            </a:r>
            <a:r>
              <a:rPr sz="1125" b="1" i="0" u="none" dirty="0">
                <a:solidFill>
                  <a:srgbClr val="FFFFFF"/>
                </a:solidFill>
                <a:latin typeface="Plus Jakarta Sans"/>
              </a:rPr>
              <a:t> JOIN: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B0B0B0"/>
                </a:solidFill>
                <a:latin typeface="Plus Jakarta Sans"/>
              </a:rPr>
              <a:t>Menampilkan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B0B0B0"/>
                </a:solidFill>
                <a:latin typeface="Plus Jakarta Sans"/>
              </a:rPr>
              <a:t>seluruh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 baris </a:t>
            </a:r>
            <a:r>
              <a:rPr sz="1125" b="0" i="0" u="none" dirty="0" err="1">
                <a:solidFill>
                  <a:srgbClr val="B0B0B0"/>
                </a:solidFill>
                <a:latin typeface="Plus Jakarta Sans"/>
              </a:rPr>
              <a:t>dari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B0B0B0"/>
                </a:solidFill>
                <a:latin typeface="Plus Jakarta Sans"/>
              </a:rPr>
              <a:t>tabel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 </a:t>
            </a:r>
            <a:r>
              <a:rPr lang="en-US" sz="1125" dirty="0" err="1">
                <a:solidFill>
                  <a:srgbClr val="B0B0B0"/>
                </a:solidFill>
                <a:latin typeface="Plus Jakarta Sans"/>
              </a:rPr>
              <a:t>kanan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 dan data </a:t>
            </a:r>
            <a:r>
              <a:rPr sz="1125" b="0" i="0" u="none" dirty="0" err="1">
                <a:solidFill>
                  <a:srgbClr val="B0B0B0"/>
                </a:solidFill>
                <a:latin typeface="Plus Jakarta Sans"/>
              </a:rPr>
              <a:t>pasangannya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B0B0B0"/>
                </a:solidFill>
                <a:latin typeface="Plus Jakarta Sans"/>
              </a:rPr>
              <a:t>dari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B0B0B0"/>
                </a:solidFill>
                <a:latin typeface="Plus Jakarta Sans"/>
              </a:rPr>
              <a:t>tabel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 </a:t>
            </a:r>
            <a:r>
              <a:rPr lang="en-US" sz="1125" dirty="0">
                <a:solidFill>
                  <a:srgbClr val="B0B0B0"/>
                </a:solidFill>
                <a:latin typeface="Plus Jakarta Sans"/>
              </a:rPr>
              <a:t>kiri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.</a:t>
            </a:r>
          </a:p>
        </p:txBody>
      </p:sp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1ED28797-14A5-3638-825E-6153D5C6B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00075" y="4026990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36576"/>
            <a:ext cx="5362575" cy="26050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136576"/>
            <a:ext cx="5362575" cy="32361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7250" y="2412801"/>
            <a:ext cx="505063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D4AA"/>
                </a:solidFill>
                <a:latin typeface="Plus Jakarta Sans"/>
              </a:rPr>
              <a:t>Fungsi Agregat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765226"/>
            <a:ext cx="48101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A0A0A0"/>
                </a:solidFill>
                <a:latin typeface="Plus Jakarta Sans"/>
              </a:rPr>
              <a:t>Fungsi agregat merangkum sekumpulan nilai record menjadi satu nilai statistik yang informatif.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625" y="2412801"/>
            <a:ext cx="505063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D4AA"/>
                </a:solidFill>
                <a:latin typeface="Plus Jakarta Sans"/>
              </a:rPr>
              <a:t>Grouping &amp; Filtering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3950" y="3336726"/>
            <a:ext cx="4543425" cy="223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B0B0B0"/>
                </a:solidFill>
                <a:latin typeface="Plus Jakarta Sans"/>
              </a:rPr>
              <a:t>COUNT() : Menghitung baris record.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" y="3712964"/>
            <a:ext cx="4543425" cy="223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B0B0B0"/>
                </a:solidFill>
                <a:latin typeface="Plus Jakarta Sans"/>
              </a:rPr>
              <a:t>SUM() &amp; AVG() : Menghitung total &amp; rata-rata numerik.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50" y="4089201"/>
            <a:ext cx="4543425" cy="223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B0B0B0"/>
                </a:solidFill>
                <a:latin typeface="Plus Jakarta Sans"/>
              </a:rPr>
              <a:t>MAX() &amp; MIN() : Mencari nilai tertinggi/terendah.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650" y="2936676"/>
            <a:ext cx="2762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1" u="none">
                <a:solidFill>
                  <a:srgbClr val="6A737D"/>
                </a:solidFill>
                <a:latin typeface="JetBrains Mono"/>
              </a:rPr>
              <a:t>-- Agregasi per Kelompok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4650" y="3165276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SELECT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9450" y="3572470"/>
            <a:ext cx="476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0" y="3572470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9450" y="3801070"/>
            <a:ext cx="285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SUM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5800" y="3801070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4650" y="4029670"/>
            <a:ext cx="381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FROM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4258270"/>
            <a:ext cx="762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GROUP BY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4650" y="4486870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HAVING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2350" y="4486870"/>
            <a:ext cx="285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SUM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4650" y="4715470"/>
            <a:ext cx="762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ORDER BY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0050" y="4715470"/>
            <a:ext cx="285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ASC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425" y="485775"/>
            <a:ext cx="11421427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AGREGASI DATA &amp; PENGELOMPOKAN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1025" y="485775"/>
            <a:ext cx="28575" cy="36567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5C7B847-C4CD-AA3F-C8B1-6C327962DBEC}"/>
              </a:ext>
            </a:extLst>
          </p:cNvPr>
          <p:cNvGrpSpPr>
            <a:grpSpLocks noChangeAspect="1"/>
          </p:cNvGrpSpPr>
          <p:nvPr/>
        </p:nvGrpSpPr>
        <p:grpSpPr>
          <a:xfrm>
            <a:off x="300811" y="6321601"/>
            <a:ext cx="1812071" cy="305438"/>
            <a:chOff x="284948" y="186248"/>
            <a:chExt cx="4368907" cy="736411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D98C3285-04FB-C692-306D-B7C8AFDAE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80465" y="186248"/>
              <a:ext cx="673390" cy="736411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A41FF24-A2FE-9279-5302-C7D2D3440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18398" y="186248"/>
              <a:ext cx="2560953" cy="736411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E7BEC49-5734-8A3C-3381-0CDB6DC42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4948" y="186248"/>
              <a:ext cx="648502" cy="7364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779389"/>
            <a:ext cx="5362575" cy="26050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779389"/>
            <a:ext cx="5362575" cy="39504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7250" y="2055614"/>
            <a:ext cx="505063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D4AA"/>
                </a:solidFill>
                <a:latin typeface="Plus Jakarta Sans"/>
              </a:rPr>
              <a:t>Aturan Integrity Constraint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408039"/>
            <a:ext cx="48101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A0A0A0"/>
                </a:solidFill>
                <a:latin typeface="Plus Jakarta Sans"/>
              </a:rPr>
              <a:t>Aturan batasan untuk menjaga keakuratan dan integritas data agar tidak terinput secara sembarangan.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625" y="2055614"/>
            <a:ext cx="505063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D4AA"/>
                </a:solidFill>
                <a:latin typeface="Plus Jakarta Sans"/>
              </a:rPr>
              <a:t>Table Virtual (VIEW)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3950" y="2979539"/>
            <a:ext cx="4543425" cy="223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PRIMARY KEY : </a:t>
            </a:r>
            <a:r>
              <a:rPr sz="1125" b="0" i="0" u="none" dirty="0" err="1">
                <a:solidFill>
                  <a:srgbClr val="B0B0B0"/>
                </a:solidFill>
                <a:latin typeface="Plus Jakarta Sans"/>
              </a:rPr>
              <a:t>Identitas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B0B0B0"/>
                </a:solidFill>
                <a:latin typeface="Plus Jakarta Sans"/>
              </a:rPr>
              <a:t>unik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B0B0B0"/>
                </a:solidFill>
                <a:latin typeface="Plus Jakarta Sans"/>
              </a:rPr>
              <a:t>tiap</a:t>
            </a:r>
            <a:r>
              <a:rPr sz="1125" b="0" i="0" u="none" dirty="0">
                <a:solidFill>
                  <a:srgbClr val="B0B0B0"/>
                </a:solidFill>
                <a:latin typeface="Plus Jakarta Sans"/>
              </a:rPr>
              <a:t> record.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" y="3355776"/>
            <a:ext cx="4543425" cy="223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B0B0B0"/>
                </a:solidFill>
                <a:latin typeface="Plus Jakarta Sans"/>
              </a:rPr>
              <a:t>FOREIGN KEY : Penjaga integritas relasi antar tabel.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50" y="3732014"/>
            <a:ext cx="4543425" cy="223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B0B0B0"/>
                </a:solidFill>
                <a:latin typeface="Plus Jakarta Sans"/>
              </a:rPr>
              <a:t>NOT NULL &amp; UNIQUE : Validasi isi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650" y="2579489"/>
            <a:ext cx="2952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1" u="none">
                <a:solidFill>
                  <a:srgbClr val="6A737D"/>
                </a:solidFill>
                <a:latin typeface="JetBrains Mono"/>
              </a:rPr>
              <a:t>-- Membuat VIEW Laporan Ringkas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4650" y="2808089"/>
            <a:ext cx="1047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CREATE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600" y="2808089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4650" y="3036689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SELECT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4650" y="3979664"/>
            <a:ext cx="381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FROM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4650" y="4208264"/>
            <a:ext cx="381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JOIN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43850" y="4208264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4436864"/>
            <a:ext cx="381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JOIN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2450" y="4436864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650" y="4844057"/>
            <a:ext cx="1619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1" u="none">
                <a:solidFill>
                  <a:srgbClr val="6A737D"/>
                </a:solidFill>
                <a:latin typeface="JetBrains Mono"/>
              </a:rPr>
              <a:t>-- Memanggil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4650" y="5072657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SELECT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4750" y="5072657"/>
            <a:ext cx="381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B72"/>
                </a:solidFill>
                <a:latin typeface="JetBrains Mono SemiBold"/>
              </a:rPr>
              <a:t>FROM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425" y="485775"/>
            <a:ext cx="11421427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CONSTRAINT &amp; TABLE VIRTUAL VIEW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1025" y="485775"/>
            <a:ext cx="28575" cy="36567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43FCF90-3F43-0730-738B-F4498A1FECEB}"/>
              </a:ext>
            </a:extLst>
          </p:cNvPr>
          <p:cNvGrpSpPr>
            <a:grpSpLocks noChangeAspect="1"/>
          </p:cNvGrpSpPr>
          <p:nvPr/>
        </p:nvGrpSpPr>
        <p:grpSpPr>
          <a:xfrm>
            <a:off x="300811" y="6321601"/>
            <a:ext cx="1812071" cy="305438"/>
            <a:chOff x="284948" y="186248"/>
            <a:chExt cx="4368907" cy="736411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4F142B2-BE9E-AEB9-FE71-C6DAC77B2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80465" y="186248"/>
              <a:ext cx="673390" cy="736411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EEE4FB5-BB92-ED40-EF5D-F02C7D386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18398" y="186248"/>
              <a:ext cx="2560953" cy="736411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E2821E7-C6CC-2AA6-55FC-ACB8C0D49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4948" y="186248"/>
              <a:ext cx="648502" cy="7364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90799"/>
            <a:ext cx="3524250" cy="25163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590799"/>
            <a:ext cx="3524250" cy="25163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590799"/>
            <a:ext cx="3524250" cy="25163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3116460"/>
            <a:ext cx="31203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5F5"/>
                </a:solidFill>
                <a:latin typeface="Arial"/>
              </a:rPr>
              <a:t>Definisi Normalisasi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459360"/>
            <a:ext cx="29718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spcAft>
                <a:spcPts val="0"/>
              </a:spcAft>
            </a:pPr>
            <a:r>
              <a:rPr sz="900" b="0">
                <a:solidFill>
                  <a:srgbClr val="B9C3C3"/>
                </a:solidFill>
                <a:latin typeface="Arial"/>
              </a:rPr>
              <a:t>Mengatur ulang tabel agar data rapi, logis, dan konsisten.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100" y="3116460"/>
            <a:ext cx="31203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5F5"/>
                </a:solidFill>
                <a:latin typeface="Arial"/>
              </a:rPr>
              <a:t>Fokus Utama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3459360"/>
            <a:ext cx="29718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spcAft>
                <a:spcPts val="400"/>
              </a:spcAft>
              <a:defRPr sz="900">
                <a:solidFill>
                  <a:srgbClr val="B9C3C3"/>
                </a:solidFill>
                <a:latin typeface="Arial"/>
              </a:defRPr>
            </a:pPr>
            <a:r>
              <a:t>• Mengatur ketergantungan data antar atribut.</a:t>
            </a:r>
          </a:p>
          <a:p>
            <a:pPr>
              <a:spcAft>
                <a:spcPts val="400"/>
              </a:spcAft>
              <a:defRPr sz="900">
                <a:solidFill>
                  <a:srgbClr val="B9C3C3"/>
                </a:solidFill>
                <a:latin typeface="Arial"/>
              </a:defRPr>
            </a:pPr>
            <a:r>
              <a:t>• Mengurangi duplikasi yang memicu inkonsistensi.</a:t>
            </a:r>
          </a:p>
          <a:p>
            <a:pPr>
              <a:spcAft>
                <a:spcPts val="400"/>
              </a:spcAft>
              <a:defRPr sz="900">
                <a:solidFill>
                  <a:srgbClr val="B9C3C3"/>
                </a:solidFill>
                <a:latin typeface="Arial"/>
              </a:defRPr>
            </a:pPr>
            <a:r>
              <a:t>• Membuat struktur database lebih mudah dipelihara.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2950" y="3116460"/>
            <a:ext cx="31203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5F5"/>
                </a:solidFill>
                <a:latin typeface="Arial"/>
              </a:rPr>
              <a:t>Hasil yang Diharapkan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2950" y="3459360"/>
            <a:ext cx="29718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spcAft>
                <a:spcPts val="400"/>
              </a:spcAft>
              <a:defRPr sz="900">
                <a:solidFill>
                  <a:srgbClr val="B9C3C3"/>
                </a:solidFill>
                <a:latin typeface="Arial"/>
              </a:defRPr>
            </a:pPr>
            <a:r>
              <a:t>• Data lebih konsisten saat ditambah, diubah, atau dihapus.</a:t>
            </a:r>
          </a:p>
          <a:p>
            <a:pPr>
              <a:spcAft>
                <a:spcPts val="400"/>
              </a:spcAft>
              <a:defRPr sz="900">
                <a:solidFill>
                  <a:srgbClr val="B9C3C3"/>
                </a:solidFill>
                <a:latin typeface="Arial"/>
              </a:defRPr>
            </a:pPr>
            <a:r>
              <a:t>• Relasi antar tabel menjadi jelas dan dapat ditelusuri.</a:t>
            </a:r>
          </a:p>
          <a:p>
            <a:pPr>
              <a:spcAft>
                <a:spcPts val="400"/>
              </a:spcAft>
              <a:defRPr sz="900">
                <a:solidFill>
                  <a:srgbClr val="B9C3C3"/>
                </a:solidFill>
                <a:latin typeface="Arial"/>
              </a:defRPr>
            </a:pPr>
            <a:r>
              <a:t>• Desain tabel siap digunakan untuk query dan transaksi.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3754635"/>
            <a:ext cx="28384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sz="800" b="0">
                <a:solidFill>
                  <a:srgbClr val="B9C3C3"/>
                </a:solidFill>
                <a:latin typeface="Arial"/>
              </a:rPr>
              <a:t>Membagi tabel besar menjadi beberapa tabel yang lebih spesifik.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4183260"/>
            <a:ext cx="28384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sz="800" b="0">
                <a:solidFill>
                  <a:srgbClr val="B9C3C3"/>
                </a:solidFill>
                <a:latin typeface="Arial"/>
              </a:rPr>
              <a:t>Menentukan Primary Key dan Foreign Key sebagai penghubung relasi.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4611885"/>
            <a:ext cx="28384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sz="800" b="0">
                <a:solidFill>
                  <a:srgbClr val="B9C3C3"/>
                </a:solidFill>
                <a:latin typeface="Arial"/>
              </a:rPr>
              <a:t>Memastikan setiap atribut berada pada tabel yang tepat.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3754635"/>
            <a:ext cx="857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sz="950" b="0">
                <a:solidFill>
                  <a:srgbClr val="00D2BE"/>
                </a:solidFill>
                <a:latin typeface="Arial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" y="4183260"/>
            <a:ext cx="857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sz="950" b="0">
                <a:solidFill>
                  <a:srgbClr val="00D2BE"/>
                </a:solidFill>
                <a:latin typeface="Aria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50" y="4611885"/>
            <a:ext cx="857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sz="950" b="0">
                <a:solidFill>
                  <a:srgbClr val="00D2BE"/>
                </a:solidFill>
                <a:latin typeface="Arial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425" y="485775"/>
            <a:ext cx="11421427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</a:pPr>
            <a:r>
              <a:rPr sz="1800" b="1">
                <a:solidFill>
                  <a:srgbClr val="F5F5F5"/>
                </a:solidFill>
                <a:latin typeface="Arial"/>
              </a:rPr>
              <a:t>PENGANTAR NORMALISASI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1025" y="485775"/>
            <a:ext cx="28575" cy="36567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280C92C-FA44-4C71-CBBB-AD70E0EA2485}"/>
              </a:ext>
            </a:extLst>
          </p:cNvPr>
          <p:cNvGrpSpPr>
            <a:grpSpLocks noChangeAspect="1"/>
          </p:cNvGrpSpPr>
          <p:nvPr/>
        </p:nvGrpSpPr>
        <p:grpSpPr>
          <a:xfrm>
            <a:off x="300811" y="6321601"/>
            <a:ext cx="1812071" cy="305438"/>
            <a:chOff x="284948" y="186248"/>
            <a:chExt cx="4368907" cy="736411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0F64726-9736-1DA1-8D8F-E0BF4C97F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80465" y="186248"/>
              <a:ext cx="673390" cy="736411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D58C321-8FE5-781B-7035-E2549FDA3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18398" y="186248"/>
              <a:ext cx="2560953" cy="736411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ECB2DD0-E8F4-A4FA-4802-A0B35D9A1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84948" y="186248"/>
              <a:ext cx="648502" cy="7364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828925"/>
            <a:ext cx="3524250" cy="24878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828925"/>
            <a:ext cx="3524250" cy="24878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828925"/>
            <a:ext cx="3524250" cy="24878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3116460"/>
            <a:ext cx="31203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5F5"/>
                </a:solidFill>
                <a:latin typeface="Arial"/>
              </a:rPr>
              <a:t>Masalah pada Tabel Mentah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459360"/>
            <a:ext cx="29718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spcAft>
                <a:spcPts val="0"/>
              </a:spcAft>
            </a:pPr>
            <a:r>
              <a:rPr sz="900" b="0">
                <a:solidFill>
                  <a:srgbClr val="B9C3C3"/>
                </a:solidFill>
                <a:latin typeface="Arial"/>
              </a:rPr>
              <a:t>Tabel mentah sering memuat data berulang.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100" y="3116460"/>
            <a:ext cx="31203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5F5"/>
                </a:solidFill>
                <a:latin typeface="Arial"/>
              </a:rPr>
              <a:t>Dampak Operasional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3459360"/>
            <a:ext cx="29718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spcAft>
                <a:spcPts val="400"/>
              </a:spcAft>
              <a:defRPr sz="900">
                <a:solidFill>
                  <a:srgbClr val="B9C3C3"/>
                </a:solidFill>
                <a:latin typeface="Arial"/>
              </a:defRPr>
            </a:pPr>
            <a:r>
              <a:t>• Penyimpanan lebih efisien karena duplikasi dikurangi.</a:t>
            </a:r>
          </a:p>
          <a:p>
            <a:pPr>
              <a:spcAft>
                <a:spcPts val="400"/>
              </a:spcAft>
              <a:defRPr sz="900">
                <a:solidFill>
                  <a:srgbClr val="B9C3C3"/>
                </a:solidFill>
                <a:latin typeface="Arial"/>
              </a:defRPr>
            </a:pPr>
            <a:r>
              <a:t>• Query lebih mudah dibaca karena entitas dipisahkan dengan jelas.</a:t>
            </a:r>
          </a:p>
          <a:p>
            <a:pPr>
              <a:spcAft>
                <a:spcPts val="400"/>
              </a:spcAft>
              <a:defRPr sz="900">
                <a:solidFill>
                  <a:srgbClr val="B9C3C3"/>
                </a:solidFill>
                <a:latin typeface="Arial"/>
              </a:defRPr>
            </a:pPr>
            <a:r>
              <a:t>• Risiko perbedaan nilai antar baris dapat ditekan.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2950" y="3116460"/>
            <a:ext cx="31203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5F5"/>
                </a:solidFill>
                <a:latin typeface="Arial"/>
              </a:rPr>
              <a:t>Kapan Digunakan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2950" y="3459360"/>
            <a:ext cx="29718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spcAft>
                <a:spcPts val="400"/>
              </a:spcAft>
              <a:defRPr sz="900">
                <a:solidFill>
                  <a:srgbClr val="B9C3C3"/>
                </a:solidFill>
                <a:latin typeface="Arial"/>
              </a:defRPr>
            </a:pPr>
            <a:r>
              <a:t>• Saat merancang tabel baru untuk aplikasi.</a:t>
            </a:r>
          </a:p>
          <a:p>
            <a:pPr>
              <a:spcAft>
                <a:spcPts val="400"/>
              </a:spcAft>
              <a:defRPr sz="900">
                <a:solidFill>
                  <a:srgbClr val="B9C3C3"/>
                </a:solidFill>
                <a:latin typeface="Arial"/>
              </a:defRPr>
            </a:pPr>
            <a:r>
              <a:t>• Saat data mulai berulang dan sulit diperbarui.</a:t>
            </a:r>
          </a:p>
          <a:p>
            <a:pPr>
              <a:spcAft>
                <a:spcPts val="400"/>
              </a:spcAft>
              <a:defRPr sz="900">
                <a:solidFill>
                  <a:srgbClr val="B9C3C3"/>
                </a:solidFill>
                <a:latin typeface="Arial"/>
              </a:defRPr>
            </a:pPr>
            <a:r>
              <a:t>• Saat relasi data perlu dibuat lebih aman dan konsisten.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3754635"/>
            <a:ext cx="28384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sz="800" b="0">
                <a:solidFill>
                  <a:srgbClr val="B9C3C3"/>
                </a:solidFill>
                <a:latin typeface="Arial"/>
              </a:rPr>
              <a:t>Satu perubahan data harus diperbarui di banyak baris.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4183260"/>
            <a:ext cx="28384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sz="800" b="0">
                <a:solidFill>
                  <a:srgbClr val="B9C3C3"/>
                </a:solidFill>
                <a:latin typeface="Arial"/>
              </a:rPr>
              <a:t>Data penting dapat hilang saat baris transaksi dihapus.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4611885"/>
            <a:ext cx="28384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sz="800" b="0">
                <a:solidFill>
                  <a:srgbClr val="B9C3C3"/>
                </a:solidFill>
                <a:latin typeface="Arial"/>
              </a:rPr>
              <a:t>Input data baru bisa gagal karena kolom lain belum tersedia.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3754635"/>
            <a:ext cx="857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sz="950" b="0">
                <a:solidFill>
                  <a:srgbClr val="00D2BE"/>
                </a:solidFill>
                <a:latin typeface="Arial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" y="4183260"/>
            <a:ext cx="857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sz="950" b="0">
                <a:solidFill>
                  <a:srgbClr val="00D2BE"/>
                </a:solidFill>
                <a:latin typeface="Aria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50" y="4611885"/>
            <a:ext cx="857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sz="950" b="0">
                <a:solidFill>
                  <a:srgbClr val="00D2BE"/>
                </a:solidFill>
                <a:latin typeface="Arial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425" y="485775"/>
            <a:ext cx="11421427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</a:pPr>
            <a:r>
              <a:rPr sz="1800" b="1">
                <a:solidFill>
                  <a:srgbClr val="F5F5F5"/>
                </a:solidFill>
                <a:latin typeface="Arial"/>
              </a:rPr>
              <a:t>MENGAPA NORMALISASI DIPERLUKAN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1025" y="485775"/>
            <a:ext cx="28575" cy="36567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280C92C-FA44-4C71-CBBB-AD70E0EA2485}"/>
              </a:ext>
            </a:extLst>
          </p:cNvPr>
          <p:cNvGrpSpPr>
            <a:grpSpLocks noChangeAspect="1"/>
          </p:cNvGrpSpPr>
          <p:nvPr/>
        </p:nvGrpSpPr>
        <p:grpSpPr>
          <a:xfrm>
            <a:off x="300811" y="6321601"/>
            <a:ext cx="1812071" cy="305438"/>
            <a:chOff x="284948" y="186248"/>
            <a:chExt cx="4368907" cy="736411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0F64726-9736-1DA1-8D8F-E0BF4C97F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80465" y="186248"/>
              <a:ext cx="673390" cy="736411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D58C321-8FE5-781B-7035-E2549FDA3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18398" y="186248"/>
              <a:ext cx="2560953" cy="736411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ECB2DD0-E8F4-A4FA-4802-A0B35D9A1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84948" y="186248"/>
              <a:ext cx="648502" cy="7364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112882" y="3180754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28575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12882" y="3485554"/>
            <a:ext cx="266361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D4AA"/>
                </a:solidFill>
                <a:latin typeface="JetBrains Mono"/>
              </a:rPr>
              <a:t>1NF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2882" y="3761779"/>
            <a:ext cx="266361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First Normal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12882" y="4018954"/>
            <a:ext cx="2536775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888888"/>
                </a:solidFill>
                <a:latin typeface="Plus Jakarta Sans"/>
              </a:rPr>
              <a:t>Menghilangkan repeating group dan memastikan setiap kolom hanya berisi satu nilai tunggal (atomic value).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43890" y="3180754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28575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43890" y="3485554"/>
            <a:ext cx="266361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D4AA"/>
                </a:solidFill>
                <a:latin typeface="JetBrains Mono"/>
              </a:rPr>
              <a:t>2NF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43890" y="3761779"/>
            <a:ext cx="266361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Second Normal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43890" y="4018954"/>
            <a:ext cx="25367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 err="1">
                <a:solidFill>
                  <a:srgbClr val="888888"/>
                </a:solidFill>
                <a:latin typeface="Plus Jakarta Sans"/>
              </a:rPr>
              <a:t>Memenuhi</a:t>
            </a:r>
            <a:r>
              <a:rPr sz="975" b="0" i="0" u="none" dirty="0">
                <a:solidFill>
                  <a:srgbClr val="888888"/>
                </a:solidFill>
                <a:latin typeface="Plus Jakarta Sans"/>
              </a:rPr>
              <a:t> 1NF dan </a:t>
            </a:r>
            <a:r>
              <a:rPr sz="975" b="0" i="0" u="none" dirty="0" err="1">
                <a:solidFill>
                  <a:srgbClr val="888888"/>
                </a:solidFill>
                <a:latin typeface="Plus Jakarta Sans"/>
              </a:rPr>
              <a:t>menghilangkan</a:t>
            </a:r>
            <a:r>
              <a:rPr sz="975" b="0" i="0" u="none" dirty="0">
                <a:solidFill>
                  <a:srgbClr val="888888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888888"/>
                </a:solidFill>
                <a:latin typeface="Plus Jakarta Sans"/>
              </a:rPr>
              <a:t>ketergantungan</a:t>
            </a:r>
            <a:r>
              <a:rPr sz="975" b="0" i="0" u="none" dirty="0">
                <a:solidFill>
                  <a:srgbClr val="888888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888888"/>
                </a:solidFill>
                <a:latin typeface="Plus Jakarta Sans"/>
              </a:rPr>
              <a:t>parsial</a:t>
            </a:r>
            <a:r>
              <a:rPr sz="975" b="0" i="0" u="none" dirty="0">
                <a:solidFill>
                  <a:srgbClr val="888888"/>
                </a:solidFill>
                <a:latin typeface="Plus Jakarta Sans"/>
              </a:rPr>
              <a:t> (partial dependency). </a:t>
            </a:r>
            <a:r>
              <a:rPr sz="975" b="0" i="0" u="none" dirty="0" err="1">
                <a:solidFill>
                  <a:srgbClr val="888888"/>
                </a:solidFill>
                <a:latin typeface="Plus Jakarta Sans"/>
              </a:rPr>
              <a:t>Semua</a:t>
            </a:r>
            <a:r>
              <a:rPr sz="975" b="0" i="0" u="none" dirty="0">
                <a:solidFill>
                  <a:srgbClr val="888888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888888"/>
                </a:solidFill>
                <a:latin typeface="Plus Jakarta Sans"/>
              </a:rPr>
              <a:t>atribut</a:t>
            </a:r>
            <a:r>
              <a:rPr sz="975" b="0" i="0" u="none" dirty="0">
                <a:solidFill>
                  <a:srgbClr val="888888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888888"/>
                </a:solidFill>
                <a:latin typeface="Plus Jakarta Sans"/>
              </a:rPr>
              <a:t>bergantung</a:t>
            </a:r>
            <a:r>
              <a:rPr sz="975" b="0" i="0" u="none" dirty="0">
                <a:solidFill>
                  <a:srgbClr val="888888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888888"/>
                </a:solidFill>
                <a:latin typeface="Plus Jakarta Sans"/>
              </a:rPr>
              <a:t>penuh</a:t>
            </a:r>
            <a:r>
              <a:rPr sz="975" b="0" i="0" u="none" dirty="0">
                <a:solidFill>
                  <a:srgbClr val="888888"/>
                </a:solidFill>
                <a:latin typeface="Plus Jakarta Sans"/>
              </a:rPr>
              <a:t> pada Primary Key.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4899" y="3180754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28575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4899" y="3485554"/>
            <a:ext cx="266361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D4AA"/>
                </a:solidFill>
                <a:latin typeface="JetBrains Mono"/>
              </a:rPr>
              <a:t>3NF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4899" y="3761779"/>
            <a:ext cx="266361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Third Normal 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4899" y="4018954"/>
            <a:ext cx="2536775" cy="928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888888"/>
                </a:solidFill>
                <a:latin typeface="Plus Jakarta Sans"/>
              </a:rPr>
              <a:t>Memenuhi 2NF dan menghilangkan ketergantungan transitif (transitive dependency), di mana atribut non-key tidak boleh bergantung pada atribut non-key lainnya.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425" y="485775"/>
            <a:ext cx="11421427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TAHAPAN BENTUK NORMALISASI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025" y="485775"/>
            <a:ext cx="28575" cy="36567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8648CFD-091E-327E-6C02-575EA3CD103E}"/>
              </a:ext>
            </a:extLst>
          </p:cNvPr>
          <p:cNvGrpSpPr>
            <a:grpSpLocks noChangeAspect="1"/>
          </p:cNvGrpSpPr>
          <p:nvPr/>
        </p:nvGrpSpPr>
        <p:grpSpPr>
          <a:xfrm>
            <a:off x="300811" y="6321601"/>
            <a:ext cx="1812071" cy="305438"/>
            <a:chOff x="284948" y="186248"/>
            <a:chExt cx="4368907" cy="736411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8D9BE98-3F87-5EE6-BC85-4B06A9A02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0465" y="186248"/>
              <a:ext cx="673390" cy="736411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262AC66-16CE-8050-095F-4D3EE9E35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18398" y="186248"/>
              <a:ext cx="2560953" cy="736411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CA2E0ED-9FAE-EBFC-EA1C-B2A44CDC3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4948" y="186248"/>
              <a:ext cx="648502" cy="7364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429768"/>
            <a:ext cx="32004" cy="347472"/>
          </a:xfrm>
          <a:prstGeom prst="rect">
            <a:avLst/>
          </a:prstGeom>
          <a:solidFill>
            <a:srgbClr val="00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438912"/>
            <a:ext cx="51206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1800" b="1">
                <a:solidFill>
                  <a:srgbClr val="F2F5F5"/>
                </a:solidFill>
                <a:latin typeface="Aptos"/>
              </a:rPr>
              <a:t>KESIMPULAN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693670"/>
            <a:ext cx="932688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 lnSpcReduction="10000"/>
          </a:bodyPr>
          <a:lstStyle/>
          <a:p>
            <a:pPr algn="l"/>
            <a:r>
              <a:rPr sz="1250" b="0">
                <a:solidFill>
                  <a:srgbClr val="AAB5B5"/>
                </a:solidFill>
                <a:latin typeface="Aptos"/>
              </a:rPr>
              <a:t>Basis data membantu menyimpan informasi secara rapi. Normalisasi membuat susunan tabel lebih jelas, tidak banyak data ganda, dan lebih mudah diperbaiki saat data berubah.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333750"/>
            <a:ext cx="2514600" cy="1463040"/>
          </a:xfrm>
          <a:prstGeom prst="roundRect">
            <a:avLst/>
          </a:prstGeom>
          <a:solidFill>
            <a:srgbClr val="121414"/>
          </a:solidFill>
          <a:ln w="8890">
            <a:solidFill>
              <a:srgbClr val="23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553206"/>
            <a:ext cx="182880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34440" y="3536442"/>
            <a:ext cx="173736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1250" b="1">
                <a:solidFill>
                  <a:srgbClr val="00D5B8"/>
                </a:solidFill>
                <a:latin typeface="Aptos"/>
              </a:rPr>
              <a:t>Data Jadi Rapi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46398"/>
            <a:ext cx="2093976" cy="74980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1019" b="0">
                <a:solidFill>
                  <a:srgbClr val="AAB5B5"/>
                </a:solidFill>
                <a:latin typeface="Aptos"/>
              </a:rPr>
              <a:t>Data disimpan di tempat yang sesuai. Setiap tabel punya tugas sendiri, jadi isi database lebih mudah dibaca.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333750"/>
            <a:ext cx="2514600" cy="1463040"/>
          </a:xfrm>
          <a:prstGeom prst="roundRect">
            <a:avLst/>
          </a:prstGeom>
          <a:solidFill>
            <a:srgbClr val="121414"/>
          </a:solidFill>
          <a:ln w="8890">
            <a:solidFill>
              <a:srgbClr val="23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3553206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05072" y="3536442"/>
            <a:ext cx="173736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1250" b="1" dirty="0" err="1">
                <a:solidFill>
                  <a:srgbClr val="00D5B8"/>
                </a:solidFill>
                <a:latin typeface="Aptos"/>
              </a:rPr>
              <a:t>Duplikasi</a:t>
            </a:r>
            <a:r>
              <a:rPr sz="1250" b="1" dirty="0">
                <a:solidFill>
                  <a:srgbClr val="00D5B8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00D5B8"/>
                </a:solidFill>
                <a:latin typeface="Aptos"/>
              </a:rPr>
              <a:t>Berkurang</a:t>
            </a:r>
            <a:endParaRPr sz="1250" b="1" dirty="0">
              <a:solidFill>
                <a:srgbClr val="00D5B8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39312" y="3946398"/>
            <a:ext cx="2093976" cy="74980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1019" b="0">
                <a:solidFill>
                  <a:srgbClr val="AAB5B5"/>
                </a:solidFill>
                <a:latin typeface="Aptos"/>
              </a:rPr>
              <a:t>Data yang sama tidak perlu ditulis berkali-kali. Ini membantu mencegah data berbeda antara satu baris dan baris lain.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333750"/>
            <a:ext cx="2514600" cy="1463040"/>
          </a:xfrm>
          <a:prstGeom prst="roundRect">
            <a:avLst/>
          </a:prstGeom>
          <a:solidFill>
            <a:srgbClr val="121414"/>
          </a:solidFill>
          <a:ln w="8890">
            <a:solidFill>
              <a:srgbClr val="23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660" y="3510839"/>
            <a:ext cx="256032" cy="30723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75704" y="3536442"/>
            <a:ext cx="173736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1250" b="1">
                <a:solidFill>
                  <a:srgbClr val="00D5B8"/>
                </a:solidFill>
                <a:latin typeface="Aptos"/>
              </a:rPr>
              <a:t>Relasi Lebih Jelas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3946398"/>
            <a:ext cx="2093976" cy="74980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1019" b="0">
                <a:solidFill>
                  <a:srgbClr val="AAB5B5"/>
                </a:solidFill>
                <a:latin typeface="Aptos"/>
              </a:rPr>
              <a:t>Primary Key dan Foreign Key menjadi penghubung antar tabel. Data tetap saling terhubung tanpa harus dicampur semua.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0264" y="3333750"/>
            <a:ext cx="2514600" cy="1463040"/>
          </a:xfrm>
          <a:prstGeom prst="roundRect">
            <a:avLst/>
          </a:prstGeom>
          <a:solidFill>
            <a:srgbClr val="121414"/>
          </a:solidFill>
          <a:ln w="8890">
            <a:solidFill>
              <a:srgbClr val="23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2288" y="3525622"/>
            <a:ext cx="256032" cy="26456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46336" y="3536442"/>
            <a:ext cx="173736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85000" lnSpcReduction="10000"/>
          </a:bodyPr>
          <a:lstStyle/>
          <a:p>
            <a:pPr algn="l"/>
            <a:r>
              <a:rPr sz="1250" b="1">
                <a:solidFill>
                  <a:srgbClr val="00D5B8"/>
                </a:solidFill>
                <a:latin typeface="Aptos"/>
              </a:rPr>
              <a:t>Kesalahan Mudah Dicegah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3946398"/>
            <a:ext cx="2093976" cy="74980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1019" b="0">
                <a:solidFill>
                  <a:srgbClr val="AAB5B5"/>
                </a:solidFill>
                <a:latin typeface="Aptos"/>
              </a:rPr>
              <a:t>Saat data ditambah, diubah, atau dihapus, risiko data hilang dan tidak konsisten bisa dikurangi.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B2B1EC7-477C-32CD-6637-7FC45C2956DB}"/>
              </a:ext>
            </a:extLst>
          </p:cNvPr>
          <p:cNvGrpSpPr>
            <a:grpSpLocks noChangeAspect="1"/>
          </p:cNvGrpSpPr>
          <p:nvPr/>
        </p:nvGrpSpPr>
        <p:grpSpPr>
          <a:xfrm>
            <a:off x="300811" y="6321601"/>
            <a:ext cx="1812071" cy="305438"/>
            <a:chOff x="284948" y="186248"/>
            <a:chExt cx="4368907" cy="73641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E8D9E3F-95E5-17B2-A827-9575269B29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80465" y="186248"/>
              <a:ext cx="673390" cy="736411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3268A3E-6DF8-94DD-724C-F5280A287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18398" y="186248"/>
              <a:ext cx="2560953" cy="736411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AF47019-0C37-81F5-54DC-010F84D9C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84948" y="186248"/>
              <a:ext cx="648502" cy="7364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0580" y="2202656"/>
            <a:ext cx="6710838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4350" b="1" i="0" u="none" dirty="0" err="1">
                <a:solidFill>
                  <a:srgbClr val="FFFFFF"/>
                </a:solidFill>
                <a:latin typeface="Plus Jakarta Sans"/>
              </a:rPr>
              <a:t>Terima</a:t>
            </a:r>
            <a:r>
              <a:rPr lang="en-US" sz="4350" b="1" i="0" u="none" dirty="0">
                <a:solidFill>
                  <a:srgbClr val="FFFFFF"/>
                </a:solidFill>
                <a:latin typeface="Plus Jakarta Sans"/>
              </a:rPr>
              <a:t> Kasih</a:t>
            </a:r>
            <a:endParaRPr sz="4350" b="1" i="0" u="none" dirty="0">
              <a:solidFill>
                <a:srgbClr val="FFFFFF"/>
              </a:solidFill>
              <a:latin typeface="Plus Jakarta San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AA45E22-8C47-1CF9-E138-935EFE5FD831}"/>
              </a:ext>
            </a:extLst>
          </p:cNvPr>
          <p:cNvGrpSpPr>
            <a:grpSpLocks noChangeAspect="1"/>
          </p:cNvGrpSpPr>
          <p:nvPr/>
        </p:nvGrpSpPr>
        <p:grpSpPr>
          <a:xfrm>
            <a:off x="300811" y="6321601"/>
            <a:ext cx="1812071" cy="305438"/>
            <a:chOff x="284948" y="186248"/>
            <a:chExt cx="4368907" cy="73641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5C71CC3-D13C-E45C-BB66-D3FFDB61D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0465" y="186248"/>
              <a:ext cx="673390" cy="73641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0B2AF86-92EC-672A-CE85-FD3A7221F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18398" y="186248"/>
              <a:ext cx="2560953" cy="73641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6E8A80B-C6E5-85E5-0DC9-00BEC8318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4948" y="186248"/>
              <a:ext cx="648502" cy="7364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1014</Words>
  <Application>Microsoft Office PowerPoint</Application>
  <PresentationFormat>Widescreen</PresentationFormat>
  <Paragraphs>165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Arial</vt:lpstr>
      <vt:lpstr>Calibri</vt:lpstr>
      <vt:lpstr>Fira Code</vt:lpstr>
      <vt:lpstr>JetBrains Mono</vt:lpstr>
      <vt:lpstr>JetBrains Mono SemiBold</vt:lpstr>
      <vt:lpstr>Plus Jakarta Sans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Rendi Pratama</dc:creator>
  <cp:keywords/>
  <dc:description>generated using python-pptx</dc:description>
  <cp:lastModifiedBy>Rendi Pratama</cp:lastModifiedBy>
  <cp:revision>9</cp:revision>
  <dcterms:created xsi:type="dcterms:W3CDTF">2013-01-27T09:14:16Z</dcterms:created>
  <dcterms:modified xsi:type="dcterms:W3CDTF">2026-07-25T06:44:56Z</dcterms:modified>
  <cp:category/>
</cp:coreProperties>
</file>