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26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-minimal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22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81969F0-6231-AC76-FEB2-43962C125373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B4FD40A-0053-0088-A0A3-716E913F12C5}"/>
              </a:ext>
            </a:extLst>
          </p:cNvPr>
          <p:cNvSpPr/>
          <p:nvPr/>
        </p:nvSpPr>
        <p:spPr>
          <a:xfrm>
            <a:off x="8458200" y="105156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314B088-CB1B-A38F-D6EA-56C338E71CD4}"/>
              </a:ext>
            </a:extLst>
          </p:cNvPr>
          <p:cNvSpPr/>
          <p:nvPr/>
        </p:nvSpPr>
        <p:spPr>
          <a:xfrm>
            <a:off x="10378440" y="1783080"/>
            <a:ext cx="146304" cy="146304"/>
          </a:xfrm>
          <a:prstGeom prst="ellipse">
            <a:avLst/>
          </a:prstGeom>
          <a:solidFill>
            <a:srgbClr val="00D4AA">
              <a:alpha val="65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8596144A-6A69-7B67-3EB4-6C59407B7106}"/>
              </a:ext>
            </a:extLst>
          </p:cNvPr>
          <p:cNvSpPr/>
          <p:nvPr/>
        </p:nvSpPr>
        <p:spPr>
          <a:xfrm>
            <a:off x="9189720" y="2834640"/>
            <a:ext cx="128016" cy="128016"/>
          </a:xfrm>
          <a:prstGeom prst="ellipse">
            <a:avLst/>
          </a:prstGeom>
          <a:solidFill>
            <a:srgbClr val="00D4AA">
              <a:alpha val="90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FC1C5744-1403-9920-703D-375472E4FBB7}"/>
              </a:ext>
            </a:extLst>
          </p:cNvPr>
          <p:cNvSpPr/>
          <p:nvPr/>
        </p:nvSpPr>
        <p:spPr>
          <a:xfrm>
            <a:off x="11201400" y="3429000"/>
            <a:ext cx="182880" cy="182880"/>
          </a:xfrm>
          <a:prstGeom prst="ellipse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058F2FF1-A96C-BC6B-A265-48A8B2780B41}"/>
              </a:ext>
            </a:extLst>
          </p:cNvPr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 Pratama</a:t>
            </a:r>
            <a:endParaRPr lang="en-US" sz="860" dirty="0"/>
          </a:p>
        </p:txBody>
      </p:sp>
      <p:sp>
        <p:nvSpPr>
          <p:cNvPr id="77" name="Shape 1">
            <a:extLst>
              <a:ext uri="{FF2B5EF4-FFF2-40B4-BE49-F238E27FC236}">
                <a16:creationId xmlns:a16="http://schemas.microsoft.com/office/drawing/2014/main" id="{096A77B8-7F32-EB3E-7C4A-DA141F121EA8}"/>
              </a:ext>
            </a:extLst>
          </p:cNvPr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79" name="Text 2">
            <a:extLst>
              <a:ext uri="{FF2B5EF4-FFF2-40B4-BE49-F238E27FC236}">
                <a16:creationId xmlns:a16="http://schemas.microsoft.com/office/drawing/2014/main" id="{29AA0B25-0D0C-28A6-D0FC-79440D533C2B}"/>
              </a:ext>
            </a:extLst>
          </p:cNvPr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81" name="Shape 3">
            <a:extLst>
              <a:ext uri="{FF2B5EF4-FFF2-40B4-BE49-F238E27FC236}">
                <a16:creationId xmlns:a16="http://schemas.microsoft.com/office/drawing/2014/main" id="{C6E47A3A-4FA0-1331-632D-680DAFFB9B4D}"/>
              </a:ext>
            </a:extLst>
          </p:cNvPr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83" name="Text 5">
            <a:extLst>
              <a:ext uri="{FF2B5EF4-FFF2-40B4-BE49-F238E27FC236}">
                <a16:creationId xmlns:a16="http://schemas.microsoft.com/office/drawing/2014/main" id="{B0A3F712-352D-B869-519C-7ABC683F856F}"/>
              </a:ext>
            </a:extLst>
          </p:cNvPr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 of Things</a:t>
            </a:r>
            <a:endParaRPr lang="en-US" sz="3500" dirty="0"/>
          </a:p>
        </p:txBody>
      </p:sp>
      <p:sp>
        <p:nvSpPr>
          <p:cNvPr id="85" name="Shape 6">
            <a:extLst>
              <a:ext uri="{FF2B5EF4-FFF2-40B4-BE49-F238E27FC236}">
                <a16:creationId xmlns:a16="http://schemas.microsoft.com/office/drawing/2014/main" id="{695F8605-0F8A-E8C9-87CE-792C127FE2C4}"/>
              </a:ext>
            </a:extLst>
          </p:cNvPr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D38448BC-C185-E20E-4896-2F6835594506}"/>
              </a:ext>
            </a:extLst>
          </p:cNvPr>
          <p:cNvSpPr/>
          <p:nvPr/>
        </p:nvSpPr>
        <p:spPr>
          <a:xfrm>
            <a:off x="713232" y="3355848"/>
            <a:ext cx="6199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membantu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benda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fisik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seperti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lampu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sensor, dan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alat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elektronik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agar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bisa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data,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terhubung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internet,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lalu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bekerja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secara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otomatis</a:t>
            </a:r>
            <a:r>
              <a:rPr lang="en-US" sz="200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sp>
        <p:nvSpPr>
          <p:cNvPr id="89" name="Shape 8">
            <a:extLst>
              <a:ext uri="{FF2B5EF4-FFF2-40B4-BE49-F238E27FC236}">
                <a16:creationId xmlns:a16="http://schemas.microsoft.com/office/drawing/2014/main" id="{3ED48F9A-11E2-9F52-EED5-75458596406E}"/>
              </a:ext>
            </a:extLst>
          </p:cNvPr>
          <p:cNvSpPr/>
          <p:nvPr/>
        </p:nvSpPr>
        <p:spPr>
          <a:xfrm>
            <a:off x="713232" y="4789549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8890">
            <a:solidFill>
              <a:srgbClr val="2B2B2B"/>
            </a:solidFill>
            <a:prstDash val="solid"/>
          </a:ln>
        </p:spPr>
      </p:sp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D6EEB7AF-C216-E884-2107-FE1AB2C04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7636" y="4917565"/>
            <a:ext cx="163068" cy="182880"/>
          </a:xfrm>
          <a:prstGeom prst="rect">
            <a:avLst/>
          </a:prstGeom>
        </p:spPr>
      </p:pic>
      <p:sp>
        <p:nvSpPr>
          <p:cNvPr id="93" name="Text 9">
            <a:extLst>
              <a:ext uri="{FF2B5EF4-FFF2-40B4-BE49-F238E27FC236}">
                <a16:creationId xmlns:a16="http://schemas.microsoft.com/office/drawing/2014/main" id="{1044BD4F-1148-BFDD-00B6-85B4423BAF6E}"/>
              </a:ext>
            </a:extLst>
          </p:cNvPr>
          <p:cNvSpPr/>
          <p:nvPr/>
        </p:nvSpPr>
        <p:spPr>
          <a:xfrm>
            <a:off x="1152144" y="4940998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itu IoT</a:t>
            </a:r>
            <a:endParaRPr lang="en-US" sz="1080" dirty="0"/>
          </a:p>
        </p:txBody>
      </p:sp>
      <p:sp>
        <p:nvSpPr>
          <p:cNvPr id="95" name="Shape 10">
            <a:extLst>
              <a:ext uri="{FF2B5EF4-FFF2-40B4-BE49-F238E27FC236}">
                <a16:creationId xmlns:a16="http://schemas.microsoft.com/office/drawing/2014/main" id="{D62EBF34-49FC-93EE-125B-07E2A2061F02}"/>
              </a:ext>
            </a:extLst>
          </p:cNvPr>
          <p:cNvSpPr/>
          <p:nvPr/>
        </p:nvSpPr>
        <p:spPr>
          <a:xfrm>
            <a:off x="3099816" y="4789549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8890">
            <a:solidFill>
              <a:srgbClr val="2B2B2B"/>
            </a:solidFill>
            <a:prstDash val="solid"/>
          </a:ln>
        </p:spPr>
      </p:sp>
      <p:pic>
        <p:nvPicPr>
          <p:cNvPr id="97" name="Image 1" descr="preencoded.png">
            <a:extLst>
              <a:ext uri="{FF2B5EF4-FFF2-40B4-BE49-F238E27FC236}">
                <a16:creationId xmlns:a16="http://schemas.microsoft.com/office/drawing/2014/main" id="{EA973BBA-296F-D4B1-335A-026BB15C0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4408" y="4917565"/>
            <a:ext cx="182880" cy="182880"/>
          </a:xfrm>
          <a:prstGeom prst="rect">
            <a:avLst/>
          </a:prstGeom>
        </p:spPr>
      </p:pic>
      <p:sp>
        <p:nvSpPr>
          <p:cNvPr id="99" name="Text 11">
            <a:extLst>
              <a:ext uri="{FF2B5EF4-FFF2-40B4-BE49-F238E27FC236}">
                <a16:creationId xmlns:a16="http://schemas.microsoft.com/office/drawing/2014/main" id="{EA69A4C2-0664-A173-1EE8-7AF1C05CAE18}"/>
              </a:ext>
            </a:extLst>
          </p:cNvPr>
          <p:cNvSpPr/>
          <p:nvPr/>
        </p:nvSpPr>
        <p:spPr>
          <a:xfrm>
            <a:off x="3538728" y="494099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</a:t>
            </a:r>
            <a:endParaRPr lang="en-US" sz="1080" dirty="0"/>
          </a:p>
        </p:txBody>
      </p:sp>
      <p:sp>
        <p:nvSpPr>
          <p:cNvPr id="101" name="Shape 12">
            <a:extLst>
              <a:ext uri="{FF2B5EF4-FFF2-40B4-BE49-F238E27FC236}">
                <a16:creationId xmlns:a16="http://schemas.microsoft.com/office/drawing/2014/main" id="{F5371861-FD16-D0DA-17C5-CB445940E177}"/>
              </a:ext>
            </a:extLst>
          </p:cNvPr>
          <p:cNvSpPr/>
          <p:nvPr/>
        </p:nvSpPr>
        <p:spPr>
          <a:xfrm>
            <a:off x="5394960" y="4789549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8890">
            <a:solidFill>
              <a:srgbClr val="2B2B2B"/>
            </a:solidFill>
            <a:prstDash val="solid"/>
          </a:ln>
        </p:spPr>
      </p:sp>
      <p:pic>
        <p:nvPicPr>
          <p:cNvPr id="103" name="Image 2" descr="preencoded.png">
            <a:extLst>
              <a:ext uri="{FF2B5EF4-FFF2-40B4-BE49-F238E27FC236}">
                <a16:creationId xmlns:a16="http://schemas.microsoft.com/office/drawing/2014/main" id="{6D5A4EAA-68C0-A66D-8F61-FA525EB133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9552" y="4917565"/>
            <a:ext cx="182880" cy="182880"/>
          </a:xfrm>
          <a:prstGeom prst="rect">
            <a:avLst/>
          </a:prstGeom>
        </p:spPr>
      </p:pic>
      <p:sp>
        <p:nvSpPr>
          <p:cNvPr id="105" name="Text 13">
            <a:extLst>
              <a:ext uri="{FF2B5EF4-FFF2-40B4-BE49-F238E27FC236}">
                <a16:creationId xmlns:a16="http://schemas.microsoft.com/office/drawing/2014/main" id="{39BAA3CB-0331-F309-0A1F-AA54707D8750}"/>
              </a:ext>
            </a:extLst>
          </p:cNvPr>
          <p:cNvSpPr/>
          <p:nvPr/>
        </p:nvSpPr>
        <p:spPr>
          <a:xfrm>
            <a:off x="5833872" y="4940998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Praktik Dasar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3691254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PENGENALAN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IoT?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adalah singkatan dari Internet of Things. Artinya, benda fisik bisa terhubung ke internet dan saling bertukar data.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880360"/>
            <a:ext cx="2423160" cy="20574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424" y="3145536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06424" y="37490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Benda fisik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06424" y="4123944"/>
            <a:ext cx="19476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lampu, kipas, pintu, mesin, atau alat ukur.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3657600" y="2880360"/>
            <a:ext cx="2423160" cy="20574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5344" y="3145536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95344" y="37490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kondisi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3895344" y="4123944"/>
            <a:ext cx="19476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memakai sensor untuk membaca data dari lingkungan.</a:t>
            </a:r>
            <a:endParaRPr lang="en-US" sz="1280" dirty="0"/>
          </a:p>
        </p:txBody>
      </p:sp>
      <p:sp>
        <p:nvSpPr>
          <p:cNvPr id="18" name="Shape 14"/>
          <p:cNvSpPr/>
          <p:nvPr/>
        </p:nvSpPr>
        <p:spPr>
          <a:xfrm>
            <a:off x="6446520" y="2880360"/>
            <a:ext cx="2423160" cy="20574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4264" y="3145536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84264" y="37490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Terhubung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6684264" y="4123944"/>
            <a:ext cx="19476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dikirim melalui jaringan seperti WiFi atau internet.</a:t>
            </a:r>
            <a:endParaRPr lang="en-US" sz="1280" dirty="0"/>
          </a:p>
        </p:txBody>
      </p:sp>
      <p:sp>
        <p:nvSpPr>
          <p:cNvPr id="22" name="Shape 17"/>
          <p:cNvSpPr/>
          <p:nvPr/>
        </p:nvSpPr>
        <p:spPr>
          <a:xfrm>
            <a:off x="9235440" y="2880360"/>
            <a:ext cx="2423160" cy="20574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3184" y="3145536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73184" y="37490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Dikontrol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9473184" y="4123944"/>
            <a:ext cx="19476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 bisa melihat data atau mengontrol alat dari aplikasi.</a:t>
            </a:r>
            <a:endParaRPr lang="en-US" sz="1280" dirty="0"/>
          </a:p>
        </p:txBody>
      </p:sp>
      <p:sp>
        <p:nvSpPr>
          <p:cNvPr id="26" name="Text 20"/>
          <p:cNvSpPr/>
          <p:nvPr/>
        </p:nvSpPr>
        <p:spPr>
          <a:xfrm>
            <a:off x="896112" y="55138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Intinya: IoT membuat alat biasa menjadi alat yang bisa membaca data, terhubung, dan memberi respon.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DASAR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 Kerja IoT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 kerja IoT bisa dipahami dengan alur sederhana ini.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2148840" cy="1444752"/>
          </a:xfrm>
          <a:prstGeom prst="roundRect">
            <a:avLst>
              <a:gd name="adj" fmla="val 4430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352" y="2990088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24128" y="3840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membaca data.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063240" y="3456432"/>
            <a:ext cx="438912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611880" y="2743200"/>
            <a:ext cx="2148840" cy="1444752"/>
          </a:xfrm>
          <a:prstGeom prst="roundRect">
            <a:avLst>
              <a:gd name="adj" fmla="val 4430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2272" y="2990088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9476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813048" y="3840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mengolah data.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852160" y="3456432"/>
            <a:ext cx="438912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400800" y="2743200"/>
            <a:ext cx="2148840" cy="1444752"/>
          </a:xfrm>
          <a:prstGeom prst="roundRect">
            <a:avLst>
              <a:gd name="adj" fmla="val 4430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1192" y="299008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Kirim Data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601968" y="3840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masuk ke jaringan.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641080" y="3456432"/>
            <a:ext cx="438912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189720" y="2743200"/>
            <a:ext cx="2148840" cy="1444752"/>
          </a:xfrm>
          <a:prstGeom prst="roundRect">
            <a:avLst>
              <a:gd name="adj" fmla="val 4430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0112" y="299008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7260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390888" y="3840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Alat memberi respon.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14400" y="5074920"/>
            <a:ext cx="10104120" cy="594360"/>
          </a:xfrm>
          <a:prstGeom prst="roundRect">
            <a:avLst>
              <a:gd name="adj" fmla="val 9231"/>
            </a:avLst>
          </a:prstGeom>
          <a:solidFill>
            <a:srgbClr val="0E0E0E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234440" y="5266944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sensor PIR mendeteksi gerakan, ESP32 memproses data, lalu lampu atau alarm menyala.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PENTING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Komponen IoT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42316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262432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74320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55064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655064" y="297180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data seperti suhu, cahaya, jarak, gerak, dan kelembaban.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51960" y="242316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3128" y="262432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74320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38344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Microcontroller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5038344" y="297180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Otak kecil yang menjalankan program dan mengontrol perangkat.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635240" y="242316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36408" y="262432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0" y="2743200"/>
            <a:ext cx="201168" cy="1833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21624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Koneksi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421624" y="297180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alat ke internet, dashboard, atau aplikasi.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578608" y="416052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779776" y="436168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8648" y="448056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364992" y="4361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</a:rPr>
              <a:t>Output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3364992" y="470916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output seperti LED, relay, motor, buzzer, atau display.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961888" y="416052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63056" y="436168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1928" y="4480560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748272" y="4361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6748272" y="470916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Tempat data ditampilkan, disimpan, atau dipakai untuk kontrol.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DASAR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Microcontroller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Microcontroller adalah papan kecil yang menjalankan program untuk membaca input dan mengontrol output.</a:t>
            </a:r>
            <a:endParaRPr lang="en-US" sz="1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51460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271576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83464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55064" y="2715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 Uno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1655064" y="306324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Cocok untuk belajar dasar input dan output. Mudah dipakai untuk LED, button, dan sensor sederhana.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6400800" y="251460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01968" y="271576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0840" y="283464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87184" y="2715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7187184" y="306324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Sudah punya WiFi dan Bluetooth. Cocok untuk proyek IoT yang terhubung internet.</a:t>
            </a:r>
            <a:endParaRPr lang="en-US" sz="1280" dirty="0"/>
          </a:p>
        </p:txBody>
      </p:sp>
      <p:sp>
        <p:nvSpPr>
          <p:cNvPr id="20" name="Shape 16"/>
          <p:cNvSpPr/>
          <p:nvPr/>
        </p:nvSpPr>
        <p:spPr>
          <a:xfrm>
            <a:off x="868680" y="429768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69848" y="449884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8720" y="461772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55064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Raspberry Pi Pico</a:t>
            </a:r>
            <a:endParaRPr lang="en-US" sz="1620" dirty="0"/>
          </a:p>
        </p:txBody>
      </p:sp>
      <p:sp>
        <p:nvSpPr>
          <p:cNvPr id="24" name="Text 19"/>
          <p:cNvSpPr/>
          <p:nvPr/>
        </p:nvSpPr>
        <p:spPr>
          <a:xfrm>
            <a:off x="1655064" y="484632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Murah, </a:t>
            </a:r>
            <a:r>
              <a:rPr lang="en-US" sz="1280" dirty="0" err="1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kecil</a:t>
            </a: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dan kuat untuk proyek embedded dasar.</a:t>
            </a:r>
            <a:endParaRPr lang="en-US" sz="1280" dirty="0"/>
          </a:p>
        </p:txBody>
      </p:sp>
      <p:sp>
        <p:nvSpPr>
          <p:cNvPr id="25" name="Shape 20"/>
          <p:cNvSpPr/>
          <p:nvPr/>
        </p:nvSpPr>
        <p:spPr>
          <a:xfrm>
            <a:off x="6400800" y="429768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01968" y="449884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0840" y="461772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87184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NodeMCU</a:t>
            </a:r>
            <a:endParaRPr lang="en-US" sz="1620" dirty="0"/>
          </a:p>
        </p:txBody>
      </p:sp>
      <p:sp>
        <p:nvSpPr>
          <p:cNvPr id="29" name="Text 23"/>
          <p:cNvSpPr/>
          <p:nvPr/>
        </p:nvSpPr>
        <p:spPr>
          <a:xfrm>
            <a:off x="7187184" y="484632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berbasis ESP8266 yang populer untuk proyek WiFi sederhana.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MINUS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Kelebihan dan Kekurangan IoT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5074920" cy="3246120"/>
          </a:xfrm>
          <a:prstGeom prst="roundRect">
            <a:avLst>
              <a:gd name="adj" fmla="val 1972"/>
            </a:avLst>
          </a:prstGeom>
          <a:solidFill>
            <a:srgbClr val="111111"/>
          </a:solidFill>
          <a:ln w="1016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65960"/>
            <a:ext cx="5074920" cy="3246120"/>
          </a:xfrm>
          <a:prstGeom prst="roundRect">
            <a:avLst>
              <a:gd name="adj" fmla="val 1972"/>
            </a:avLst>
          </a:prstGeom>
          <a:solidFill>
            <a:srgbClr val="111111"/>
          </a:solidFill>
          <a:ln w="10160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32" y="224028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27632" y="2240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Kelebihan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392" y="224028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22592" y="2240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Kekurangan</a:t>
            </a:r>
            <a:endParaRPr lang="en-US" sz="1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864" y="283464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17904" y="28346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Otomatis</a:t>
            </a:r>
            <a:endParaRPr lang="en-US" sz="1420" dirty="0"/>
          </a:p>
        </p:txBody>
      </p:sp>
      <p:sp>
        <p:nvSpPr>
          <p:cNvPr id="17" name="Text 12"/>
          <p:cNvSpPr/>
          <p:nvPr/>
        </p:nvSpPr>
        <p:spPr>
          <a:xfrm>
            <a:off x="1517904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Pekerjaan berulang bisa berjalan sendiri.</a:t>
            </a:r>
            <a:endParaRPr lang="en-US" sz="121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864" y="356616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17904" y="35661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</a:t>
            </a:r>
            <a:endParaRPr lang="en-US" sz="1420" dirty="0"/>
          </a:p>
        </p:txBody>
      </p:sp>
      <p:sp>
        <p:nvSpPr>
          <p:cNvPr id="20" name="Text 14"/>
          <p:cNvSpPr/>
          <p:nvPr/>
        </p:nvSpPr>
        <p:spPr>
          <a:xfrm>
            <a:off x="1517904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bisa dipantau langsung dari jarak jauh.</a:t>
            </a:r>
            <a:endParaRPr lang="en-US" sz="121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864" y="429768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17904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Efisien</a:t>
            </a:r>
            <a:endParaRPr lang="en-US" sz="1420" dirty="0"/>
          </a:p>
        </p:txBody>
      </p:sp>
      <p:sp>
        <p:nvSpPr>
          <p:cNvPr id="23" name="Text 16"/>
          <p:cNvSpPr/>
          <p:nvPr/>
        </p:nvSpPr>
        <p:spPr>
          <a:xfrm>
            <a:off x="1517904" y="45720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Penggunaan listrik, waktu, dan biaya bisa ditekan.</a:t>
            </a:r>
            <a:endParaRPr lang="en-US" sz="121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0830" y="2843784"/>
            <a:ext cx="17830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12864" y="28346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Butuh koneksi</a:t>
            </a:r>
            <a:endParaRPr lang="en-US" sz="1420" dirty="0"/>
          </a:p>
        </p:txBody>
      </p:sp>
      <p:sp>
        <p:nvSpPr>
          <p:cNvPr id="26" name="Text 18"/>
          <p:cNvSpPr/>
          <p:nvPr/>
        </p:nvSpPr>
        <p:spPr>
          <a:xfrm>
            <a:off x="6912864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jaringan putus, fitur online bisa terganggu.</a:t>
            </a:r>
            <a:endParaRPr lang="en-US" sz="121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0830" y="3575304"/>
            <a:ext cx="17830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12864" y="35661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keamanan</a:t>
            </a:r>
            <a:endParaRPr lang="en-US" sz="1420" dirty="0"/>
          </a:p>
        </p:txBody>
      </p:sp>
      <p:sp>
        <p:nvSpPr>
          <p:cNvPr id="29" name="Text 20"/>
          <p:cNvSpPr/>
          <p:nvPr/>
        </p:nvSpPr>
        <p:spPr>
          <a:xfrm>
            <a:off x="6912864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dan perangkat perlu dilindungi dengan baik.</a:t>
            </a:r>
            <a:endParaRPr lang="en-US" sz="121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0830" y="4306824"/>
            <a:ext cx="17830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12864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Perawatan</a:t>
            </a:r>
            <a:endParaRPr lang="en-US" sz="1420" dirty="0"/>
          </a:p>
        </p:txBody>
      </p:sp>
      <p:sp>
        <p:nvSpPr>
          <p:cNvPr id="32" name="Text 22"/>
          <p:cNvSpPr/>
          <p:nvPr/>
        </p:nvSpPr>
        <p:spPr>
          <a:xfrm>
            <a:off x="6912864" y="45720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Sensor, baterai, dan kode perlu dicek secara berkala.</a:t>
            </a:r>
            <a:endParaRPr lang="en-US" sz="12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TEMPAT DATA DIPAKAI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IoT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IoT membantu perangkat mengirim data, menyimpan data, membuat dashboard, dan mengontrol alat dari jarak jauh.</a:t>
            </a:r>
            <a:endParaRPr lang="en-US" sz="1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2423160" cy="2148840"/>
          </a:xfrm>
          <a:prstGeom prst="roundRect">
            <a:avLst>
              <a:gd name="adj" fmla="val 3191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424" y="3081528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06424" y="36850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Platform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06424" y="4059936"/>
            <a:ext cx="1947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Arduino IoT Cloud, Blynk, ThingsBoard, Firebase.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4884420" y="2940177"/>
            <a:ext cx="2423160" cy="2148840"/>
          </a:xfrm>
          <a:prstGeom prst="roundRect">
            <a:avLst>
              <a:gd name="adj" fmla="val 3191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2164" y="308152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2164" y="36850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122164" y="4059935"/>
            <a:ext cx="1947672" cy="100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Menampilkan grafik, angka, status perangkat, dan </a:t>
            </a:r>
            <a:r>
              <a:rPr lang="en-US" sz="1280" dirty="0" err="1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notifikasi</a:t>
            </a: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en-US" sz="1280" dirty="0" err="1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Mengontrol</a:t>
            </a: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dirty="0" err="1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</a:t>
            </a: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dirty="0" err="1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lewat</a:t>
            </a: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HP </a:t>
            </a:r>
            <a:r>
              <a:rPr lang="en-US" sz="1280" dirty="0" err="1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atau</a:t>
            </a: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web browser.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</p:txBody>
      </p:sp>
      <p:sp>
        <p:nvSpPr>
          <p:cNvPr id="18" name="Shape 14"/>
          <p:cNvSpPr/>
          <p:nvPr/>
        </p:nvSpPr>
        <p:spPr>
          <a:xfrm>
            <a:off x="8900160" y="2816352"/>
            <a:ext cx="2423160" cy="2148840"/>
          </a:xfrm>
          <a:prstGeom prst="roundRect">
            <a:avLst>
              <a:gd name="adj" fmla="val 3191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7904" y="308152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37904" y="36850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9137904" y="4059936"/>
            <a:ext cx="1947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Menyimpan riwayat data agar bisa dianalisis lagi.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EDITOR UNTUK BOARD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Arduino IDE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 IDE dipakai untuk menulis, mengecek, dan mengirim program ke board seperti Arduino Uno dan ESP32.</a:t>
            </a:r>
            <a:endParaRPr lang="en-US" sz="1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2148840" cy="1417320"/>
          </a:xfrm>
          <a:prstGeom prst="roundRect">
            <a:avLst>
              <a:gd name="adj" fmla="val 4516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352" y="301752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Tulis Kode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1005840" y="38313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program di editor.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063240" y="3456432"/>
            <a:ext cx="438912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611880" y="2788920"/>
            <a:ext cx="2148840" cy="1417320"/>
          </a:xfrm>
          <a:prstGeom prst="roundRect">
            <a:avLst>
              <a:gd name="adj" fmla="val 4516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2272" y="301752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9476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480" dirty="0"/>
          </a:p>
        </p:txBody>
      </p:sp>
      <p:sp>
        <p:nvSpPr>
          <p:cNvPr id="18" name="Text 14"/>
          <p:cNvSpPr/>
          <p:nvPr/>
        </p:nvSpPr>
        <p:spPr>
          <a:xfrm>
            <a:off x="3794760" y="38313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apakah kode error.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5852160" y="3456432"/>
            <a:ext cx="438912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400800" y="2788920"/>
            <a:ext cx="2148840" cy="1417320"/>
          </a:xfrm>
          <a:prstGeom prst="roundRect">
            <a:avLst>
              <a:gd name="adj" fmla="val 4516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1192" y="301752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480" dirty="0"/>
          </a:p>
        </p:txBody>
      </p:sp>
      <p:sp>
        <p:nvSpPr>
          <p:cNvPr id="23" name="Text 18"/>
          <p:cNvSpPr/>
          <p:nvPr/>
        </p:nvSpPr>
        <p:spPr>
          <a:xfrm>
            <a:off x="6583680" y="38313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Kirim kode ke board.</a:t>
            </a:r>
            <a:endParaRPr lang="en-US" sz="1120" dirty="0"/>
          </a:p>
        </p:txBody>
      </p:sp>
      <p:sp>
        <p:nvSpPr>
          <p:cNvPr id="24" name="Shape 19"/>
          <p:cNvSpPr/>
          <p:nvPr/>
        </p:nvSpPr>
        <p:spPr>
          <a:xfrm>
            <a:off x="8641080" y="3456432"/>
            <a:ext cx="438912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189720" y="2788920"/>
            <a:ext cx="2148840" cy="1417320"/>
          </a:xfrm>
          <a:prstGeom prst="roundRect">
            <a:avLst>
              <a:gd name="adj" fmla="val 4516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0112" y="301752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7260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Monitor</a:t>
            </a:r>
            <a:endParaRPr lang="en-US" sz="1480" dirty="0"/>
          </a:p>
        </p:txBody>
      </p:sp>
      <p:sp>
        <p:nvSpPr>
          <p:cNvPr id="28" name="Text 22"/>
          <p:cNvSpPr/>
          <p:nvPr/>
        </p:nvSpPr>
        <p:spPr>
          <a:xfrm>
            <a:off x="9372600" y="38313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Lihat data dari board.</a:t>
            </a:r>
            <a:endParaRPr lang="en-US" sz="1120" dirty="0"/>
          </a:p>
        </p:txBody>
      </p:sp>
      <p:sp>
        <p:nvSpPr>
          <p:cNvPr id="29" name="Shape 23"/>
          <p:cNvSpPr/>
          <p:nvPr/>
        </p:nvSpPr>
        <p:spPr>
          <a:xfrm>
            <a:off x="914400" y="5074920"/>
            <a:ext cx="10104120" cy="594360"/>
          </a:xfrm>
          <a:prstGeom prst="roundRect">
            <a:avLst>
              <a:gd name="adj" fmla="val 9231"/>
            </a:avLst>
          </a:prstGeom>
          <a:solidFill>
            <a:srgbClr val="0E0E0E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234440" y="526694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ESP32, tambahkan board ESP32 dulu melalui Boards Manager di Arduino IDE.</a:t>
            </a:r>
            <a:endParaRPr lang="en-US" sz="14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</a:rPr>
              <a:t>09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DIGITAL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Button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dipakai sebagai input. Nilainya hanya dua: ditekan atau tidak ditekan.</a:t>
            </a:r>
            <a:endParaRPr lang="en-US" sz="1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450592"/>
            <a:ext cx="3108960" cy="1965960"/>
          </a:xfrm>
          <a:prstGeom prst="roundRect">
            <a:avLst>
              <a:gd name="adj" fmla="val 3256"/>
            </a:avLst>
          </a:prstGeom>
          <a:solidFill>
            <a:srgbClr val="111111"/>
          </a:solidFill>
          <a:ln w="10160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9696" y="2761488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24712" y="395020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sederhana untuk memberi perintah ke microcontroller.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34840" y="2423160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36008" y="262432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0" y="274320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21224" y="26243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digitalRead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221224" y="297180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HIGH atau LOW dari pin input.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7726680" y="2423160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927848" y="262432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6720" y="274320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13064" y="26243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Pull-up / Pull-down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513064" y="297180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Mencegah nilai pin terbaca acak.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4434840" y="3749040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36008" y="395020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4880" y="406908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21224" y="39502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aksi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5221224" y="42976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button ditekan, LED menyala.</a:t>
            </a:r>
            <a:endParaRPr lang="en-US" sz="1180" dirty="0"/>
          </a:p>
        </p:txBody>
      </p:sp>
      <p:sp>
        <p:nvSpPr>
          <p:cNvPr id="29" name="Shape 23"/>
          <p:cNvSpPr/>
          <p:nvPr/>
        </p:nvSpPr>
        <p:spPr>
          <a:xfrm>
            <a:off x="7726680" y="3749040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927848" y="395020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6720" y="4069080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513064" y="39502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 dasar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513064" y="42976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Atur pinMode, baca input, lalu jalankan output.</a:t>
            </a:r>
            <a:endParaRPr lang="en-US" sz="1180" dirty="0"/>
          </a:p>
        </p:txBody>
      </p:sp>
      <p:sp>
        <p:nvSpPr>
          <p:cNvPr id="34" name="Text 27"/>
          <p:cNvSpPr/>
          <p:nvPr/>
        </p:nvSpPr>
        <p:spPr>
          <a:xfrm>
            <a:off x="932688" y="530352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Intinya: button adalah cara paling mudah untuk belajar input pada IoT.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GERAK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Pengenalan Sensor PIR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PIR mendeteksi gerakan manusia atau objek hidup dari perubahan radiasi inframerah.</a:t>
            </a:r>
            <a:endParaRPr lang="en-US" sz="1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51460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271576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83464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55064" y="2715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Fungsi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1655064" y="306324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Mendeteksi ada atau tidaknya gerakan di area sensor.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6400800" y="251460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01968" y="271576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0840" y="283464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87184" y="2715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7187184" y="306324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Umumnya punya VCC, GND, dan OUT. OUT masuk ke pin digital.</a:t>
            </a:r>
            <a:endParaRPr lang="en-US" sz="1280" dirty="0"/>
          </a:p>
        </p:txBody>
      </p:sp>
      <p:sp>
        <p:nvSpPr>
          <p:cNvPr id="20" name="Shape 16"/>
          <p:cNvSpPr/>
          <p:nvPr/>
        </p:nvSpPr>
        <p:spPr>
          <a:xfrm>
            <a:off x="868680" y="429768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69848" y="449884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8720" y="461772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55064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Data</a:t>
            </a:r>
            <a:endParaRPr lang="en-US" sz="1620" dirty="0"/>
          </a:p>
        </p:txBody>
      </p:sp>
      <p:sp>
        <p:nvSpPr>
          <p:cNvPr id="24" name="Text 19"/>
          <p:cNvSpPr/>
          <p:nvPr/>
        </p:nvSpPr>
        <p:spPr>
          <a:xfrm>
            <a:off x="1655064" y="484632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ada gerakan, pin OUT berubah HIGH. Saat tidak ada, kembali LOW.</a:t>
            </a:r>
            <a:endParaRPr lang="en-US" sz="1280" dirty="0"/>
          </a:p>
        </p:txBody>
      </p:sp>
      <p:sp>
        <p:nvSpPr>
          <p:cNvPr id="25" name="Shape 20"/>
          <p:cNvSpPr/>
          <p:nvPr/>
        </p:nvSpPr>
        <p:spPr>
          <a:xfrm>
            <a:off x="6400800" y="429768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01968" y="4498848"/>
            <a:ext cx="438912" cy="438912"/>
          </a:xfrm>
          <a:prstGeom prst="ellipse">
            <a:avLst/>
          </a:prstGeom>
          <a:solidFill>
            <a:srgbClr val="0E0E0E"/>
          </a:solidFill>
          <a:ln w="6985">
            <a:solidFill>
              <a:srgbClr val="2B2B2B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0840" y="461772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87184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Pakai</a:t>
            </a:r>
            <a:endParaRPr lang="en-US" sz="1620" dirty="0"/>
          </a:p>
        </p:txBody>
      </p:sp>
      <p:sp>
        <p:nvSpPr>
          <p:cNvPr id="29" name="Text 23"/>
          <p:cNvSpPr/>
          <p:nvPr/>
        </p:nvSpPr>
        <p:spPr>
          <a:xfrm>
            <a:off x="7187184" y="4846320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A8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Lampu otomatis, alarm pintu, dan sistem keamanan sederhana.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KOSONG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Rangkaian Tinkercad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>
            <a:spLocks noChangeAspect="1"/>
          </p:cNvSpPr>
          <p:nvPr/>
        </p:nvSpPr>
        <p:spPr>
          <a:xfrm>
            <a:off x="3655850" y="1625348"/>
            <a:ext cx="5899476" cy="4393687"/>
          </a:xfrm>
          <a:prstGeom prst="roundRect">
            <a:avLst>
              <a:gd name="adj" fmla="val 164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3335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0078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akan lebih mudah dipahami kalau dilihat sebagai alur input, proses, koneksi, dan output.</a:t>
            </a:r>
            <a:endParaRPr lang="en-US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2560320"/>
            <a:ext cx="9966960" cy="493776"/>
          </a:xfrm>
          <a:prstGeom prst="roundRect">
            <a:avLst>
              <a:gd name="adj" fmla="val 9259"/>
            </a:avLst>
          </a:prstGeom>
          <a:solidFill>
            <a:srgbClr val="111111"/>
          </a:solidFill>
          <a:ln w="8255">
            <a:solidFill>
              <a:srgbClr val="2B2B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872" y="2715768"/>
            <a:ext cx="146304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27632" y="2697480"/>
            <a:ext cx="877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menghubungkan benda fisik ke internet agar data bisa dibaca dan dipakai.</a:t>
            </a:r>
            <a:endParaRPr lang="en-US" sz="1390" dirty="0"/>
          </a:p>
        </p:txBody>
      </p:sp>
      <p:sp>
        <p:nvSpPr>
          <p:cNvPr id="13" name="Shape 10"/>
          <p:cNvSpPr/>
          <p:nvPr/>
        </p:nvSpPr>
        <p:spPr>
          <a:xfrm>
            <a:off x="960120" y="3273552"/>
            <a:ext cx="9966960" cy="493776"/>
          </a:xfrm>
          <a:prstGeom prst="roundRect">
            <a:avLst>
              <a:gd name="adj" fmla="val 9259"/>
            </a:avLst>
          </a:prstGeom>
          <a:solidFill>
            <a:srgbClr val="111111"/>
          </a:solidFill>
          <a:ln w="8255">
            <a:solidFill>
              <a:srgbClr val="2B2B2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008" y="34290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27632" y="3410712"/>
            <a:ext cx="877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berasal dari sensor atau button.</a:t>
            </a:r>
            <a:endParaRPr lang="en-US" sz="1390" dirty="0"/>
          </a:p>
        </p:txBody>
      </p:sp>
      <p:sp>
        <p:nvSpPr>
          <p:cNvPr id="16" name="Shape 12"/>
          <p:cNvSpPr/>
          <p:nvPr/>
        </p:nvSpPr>
        <p:spPr>
          <a:xfrm>
            <a:off x="960120" y="3986784"/>
            <a:ext cx="9966960" cy="493776"/>
          </a:xfrm>
          <a:prstGeom prst="roundRect">
            <a:avLst>
              <a:gd name="adj" fmla="val 9259"/>
            </a:avLst>
          </a:prstGeom>
          <a:solidFill>
            <a:srgbClr val="111111"/>
          </a:solidFill>
          <a:ln w="8255">
            <a:solidFill>
              <a:srgbClr val="2B2B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008" y="414223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123944"/>
            <a:ext cx="877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Microcontroller seperti Arduino Uno dan ESP32 memproses data.</a:t>
            </a:r>
            <a:endParaRPr lang="en-US" sz="1390" dirty="0"/>
          </a:p>
        </p:txBody>
      </p:sp>
      <p:sp>
        <p:nvSpPr>
          <p:cNvPr id="19" name="Shape 14"/>
          <p:cNvSpPr/>
          <p:nvPr/>
        </p:nvSpPr>
        <p:spPr>
          <a:xfrm>
            <a:off x="960120" y="4700016"/>
            <a:ext cx="9966960" cy="493776"/>
          </a:xfrm>
          <a:prstGeom prst="roundRect">
            <a:avLst>
              <a:gd name="adj" fmla="val 9259"/>
            </a:avLst>
          </a:prstGeom>
          <a:solidFill>
            <a:srgbClr val="111111"/>
          </a:solidFill>
          <a:ln w="8255">
            <a:solidFill>
              <a:srgbClr val="2B2B2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008" y="485546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27632" y="4837176"/>
            <a:ext cx="877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bisa berupa LED, relay, buzzer, motor, dashboard, atau notifikasi.</a:t>
            </a:r>
            <a:endParaRPr lang="en-US" sz="1390" dirty="0"/>
          </a:p>
        </p:txBody>
      </p:sp>
      <p:sp>
        <p:nvSpPr>
          <p:cNvPr id="22" name="Shape 16"/>
          <p:cNvSpPr/>
          <p:nvPr/>
        </p:nvSpPr>
        <p:spPr>
          <a:xfrm>
            <a:off x="960120" y="5532120"/>
            <a:ext cx="9966960" cy="365760"/>
          </a:xfrm>
          <a:prstGeom prst="roundRect">
            <a:avLst>
              <a:gd name="adj" fmla="val 12500"/>
            </a:avLst>
          </a:prstGeom>
          <a:solidFill>
            <a:srgbClr val="0E0E0E"/>
          </a:solidFill>
          <a:ln w="8890">
            <a:solidFill>
              <a:srgbClr val="00D4A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261872" y="5641848"/>
            <a:ext cx="9326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belajar paling aman: mulai dari button, LED, sensor PIR, lalu kirim data ke platform IoT.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6136" y="-18288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70355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dirty="0">
                <a:solidFill>
                  <a:srgbClr val="9A9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bukan hanya tentang teknologi, tetapi tentang bagaimana kita menghubungkan dunia fisik dengan digital.</a:t>
            </a:r>
            <a:endParaRPr lang="en-US" sz="2150" dirty="0"/>
          </a:p>
        </p:txBody>
      </p:sp>
      <p:sp>
        <p:nvSpPr>
          <p:cNvPr id="16" name="Shape 14"/>
          <p:cNvSpPr/>
          <p:nvPr/>
        </p:nvSpPr>
        <p:spPr>
          <a:xfrm>
            <a:off x="9509760" y="1353312"/>
            <a:ext cx="182880" cy="1828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5640" y="2267712"/>
            <a:ext cx="164592" cy="164592"/>
          </a:xfrm>
          <a:prstGeom prst="ellipse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3840480"/>
            <a:ext cx="146304" cy="146304"/>
          </a:xfrm>
          <a:prstGeom prst="ellipse">
            <a:avLst/>
          </a:prstGeom>
          <a:solidFill>
            <a:srgbClr val="00D4AA">
              <a:alpha val="90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112D1DE7-7E4F-3B29-01D3-F4A8C7D36B0E}"/>
              </a:ext>
            </a:extLst>
          </p:cNvPr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6350">
            <a:solidFill>
              <a:srgbClr val="2B2B2B"/>
            </a:solidFill>
            <a:prstDash val="solid"/>
          </a:ln>
        </p:spPr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C21EFA1-AD28-8C5A-A602-CA5075F21089}"/>
              </a:ext>
            </a:extLst>
          </p:cNvPr>
          <p:cNvSpPr/>
          <p:nvPr/>
        </p:nvSpPr>
        <p:spPr>
          <a:xfrm>
            <a:off x="11695176" y="6336792"/>
            <a:ext cx="201168" cy="0"/>
          </a:xfrm>
          <a:prstGeom prst="line">
            <a:avLst/>
          </a:prstGeom>
          <a:noFill/>
          <a:ln w="14605">
            <a:solidFill>
              <a:srgbClr val="00D4AA"/>
            </a:solidFill>
            <a:prstDash val="solid"/>
          </a:ln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5095D7FE-7158-46BC-5CE1-469DDB4FDB5F}"/>
              </a:ext>
            </a:extLst>
          </p:cNvPr>
          <p:cNvSpPr/>
          <p:nvPr/>
        </p:nvSpPr>
        <p:spPr>
          <a:xfrm>
            <a:off x="694944" y="4572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00D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</a:t>
            </a:r>
            <a:endParaRPr lang="en-US" sz="86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5B2FFAB-5071-54F3-4B18-F31EFB78A01C}"/>
              </a:ext>
            </a:extLst>
          </p:cNvPr>
          <p:cNvSpPr/>
          <p:nvPr/>
        </p:nvSpPr>
        <p:spPr>
          <a:xfrm>
            <a:off x="694944" y="7498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 err="1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</a:t>
            </a:r>
            <a:r>
              <a:rPr lang="en-US" sz="3500" b="1" dirty="0">
                <a:solidFill>
                  <a:srgbClr val="E0E0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Kasih</a:t>
            </a:r>
            <a:endParaRPr lang="en-US" sz="35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BBC3137-4916-FC57-2BA3-754112FB31E4}"/>
              </a:ext>
            </a:extLst>
          </p:cNvPr>
          <p:cNvSpPr/>
          <p:nvPr/>
        </p:nvSpPr>
        <p:spPr>
          <a:xfrm>
            <a:off x="713232" y="1389888"/>
            <a:ext cx="1078992" cy="0"/>
          </a:xfrm>
          <a:prstGeom prst="line">
            <a:avLst/>
          </a:prstGeom>
          <a:noFill/>
          <a:ln w="22860">
            <a:solidFill>
              <a:srgbClr val="00D4AA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3851833-0A07-7264-C01D-77AD74EED30E}"/>
              </a:ext>
            </a:extLst>
          </p:cNvPr>
          <p:cNvSpPr/>
          <p:nvPr/>
        </p:nvSpPr>
        <p:spPr>
          <a:xfrm>
            <a:off x="11228832" y="6227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820</Words>
  <Application>Microsoft Office PowerPoint</Application>
  <PresentationFormat>Widescreen</PresentationFormat>
  <Paragraphs>153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Pengenalan IoT - Materi Dasar</dc:title>
  <dc:subject>Materi Pengenalan IoT</dc:subject>
  <dc:creator>OpenAI</dc:creator>
  <cp:lastModifiedBy>Rendi Pratama</cp:lastModifiedBy>
  <cp:revision>7</cp:revision>
  <dcterms:created xsi:type="dcterms:W3CDTF">2026-07-21T17:56:58Z</dcterms:created>
  <dcterms:modified xsi:type="dcterms:W3CDTF">2026-07-21T21:33:25Z</dcterms:modified>
</cp:coreProperties>
</file>