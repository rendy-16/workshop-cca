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.png"/><Relationship Id="rId5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3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3.png"/><Relationship Id="rId5" Type="http://schemas.openxmlformats.org/officeDocument/2006/relationships/image" Target="../media/image46.png"/><Relationship Id="rId6" Type="http://schemas.openxmlformats.org/officeDocument/2006/relationships/image" Target="../media/image8.png"/><Relationship Id="rId7" Type="http://schemas.openxmlformats.org/officeDocument/2006/relationships/image" Target="../media/image47.png"/><Relationship Id="rId8" Type="http://schemas.openxmlformats.org/officeDocument/2006/relationships/image" Target="../media/image14.png"/><Relationship Id="rId9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3.png"/><Relationship Id="rId9" Type="http://schemas.openxmlformats.org/officeDocument/2006/relationships/image" Target="../media/image5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Relationship Id="rId4" Type="http://schemas.openxmlformats.org/officeDocument/2006/relationships/image" Target="../media/image3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4109"/>
            <a:ext cx="3220938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78459"/>
            <a:ext cx="10601325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0" sz="4350" i="0" u="none">
                <a:solidFill>
                  <a:srgbClr val="FFFFFF"/>
                </a:solidFill>
                <a:latin typeface="Plus Jakarta Sans ExtraBold"/>
              </a:rPr>
              <a:t>Mobile Programming</a:t>
            </a:r>
            <a:r>
              <a:t>
</a:t>
            </a:r>
            <a:r>
              <a:rPr b="0" sz="4350" i="0" u="none">
                <a:solidFill>
                  <a:srgbClr val="22C55E"/>
                </a:solidFill>
                <a:latin typeface="Plus Jakarta Sans ExtraBold"/>
              </a:rPr>
              <a:t>Android Studio (Java &amp; XML)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79540"/>
            <a:ext cx="10096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Panduan Komprehensif Merekap 4 Pilar Utama Pengembangan Aplikasi Android: Tampilan, Navigasi, Lifecycle, dan Penyimpanan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77000"/>
            <a:ext cx="2533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Fondasi Pengembangan Android Berbasis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0" y="6477000"/>
            <a:ext cx="1428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Modul Ringkasan Lengkap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245072"/>
            <a:ext cx="1491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20530"/>
            <a:ext cx="1104900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1180"/>
            <a:ext cx="2619375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301180"/>
            <a:ext cx="2619375" cy="2276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301180"/>
            <a:ext cx="2619375" cy="2276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301180"/>
            <a:ext cx="2619375" cy="2276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9530"/>
            <a:ext cx="336053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477000"/>
            <a:ext cx="1971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Utama Pengembangan 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58550" y="6477000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872930"/>
            <a:ext cx="10629900" cy="228600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Urutan Belajar Ideal: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Pelajari Pilar 1 sebagai fondasi UI → Pilar 2 untuk navigasi → Pilar 3 untuk manajemen state → Pilar 4 untuk data persisten &amp; jaringan.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539305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9625" y="3148905"/>
            <a:ext cx="22502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1. Layout &amp;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482280"/>
            <a:ext cx="2143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Menyusun struktur antarmuka (UI) menggunakan XML dan menghubungkannya ke logika Java.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2539305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19500" y="3148905"/>
            <a:ext cx="22502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2.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482280"/>
            <a:ext cx="21431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Mengatur navigasi halaman, bertukar data antar komponen, dan pemanggilan sistem.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539305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29375" y="3148905"/>
            <a:ext cx="22502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3.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482280"/>
            <a:ext cx="21431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Mengelola alur status halaman (Activity) dari dibuat hingga dihancurkan oleh sistem.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0" y="2539305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9250" y="3148905"/>
            <a:ext cx="225028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4. Database &amp;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0" y="3482280"/>
            <a:ext cx="2143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Penyimpanan data lokal (SharedPreferences/Room) dan koneksi server via REST API.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920555"/>
            <a:ext cx="1428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637" y="2653605"/>
            <a:ext cx="257175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33800" y="2653605"/>
            <a:ext cx="2286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3675" y="2653605"/>
            <a:ext cx="22860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7837" y="2653605"/>
            <a:ext cx="2000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0903" y="476250"/>
            <a:ext cx="11108575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Peta Materi: 4 Pilar Aplikasi Android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23358"/>
            <a:ext cx="11049000" cy="537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297953" cy="30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2294483"/>
            <a:ext cx="11049000" cy="22860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2294483"/>
          <a:ext cx="1103947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36352"/>
                <a:gridCol w="6242149"/>
                <a:gridCol w="326097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2C55E"/>
                          </a:solidFill>
                          <a:latin typeface="Plus Jakarta Sans"/>
                        </a:rPr>
                        <a:t>Jenis 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2C55E"/>
                          </a:solidFill>
                          <a:latin typeface="Plus Jakarta Sans"/>
                        </a:rPr>
                        <a:t>Cara Kerja Utama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2C55E"/>
                          </a:solidFill>
                          <a:latin typeface="Plus Jakarta Sans"/>
                        </a:rPr>
                        <a:t>Kata Kunci Poin (XML)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LinearLayout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Menyusun widget secara berurutan dalam satu arah (vertikal atau horizontal).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android:orientation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layout_weight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RelativeLayout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Memposisikan widget relatif terhadap posisi widget lain atau induknya (parent).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layout_below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, </a:t>
                      </a:r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layout_toRightOf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FrameLayout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Menampilkan elemen secara bertumpuk (stack), cocok untuk penampung tunggal/Fragment.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Penumpukan view (stacking)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ConstraintLayout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Menyusun UI kompleks secara fleksibel dengan membatasi posisi antar komponen.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app:layout_constraintTop_toTopOf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1500" y="6477000"/>
            <a:ext cx="1104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1: Layout &amp;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58550" y="6477000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262" y="2746920"/>
            <a:ext cx="15363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12615" y="2746920"/>
            <a:ext cx="62421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54764" y="2746920"/>
            <a:ext cx="32609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875758"/>
            <a:ext cx="10629900" cy="23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Aturan Ukuran Widget: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match_parent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membuat ukuran memenuhi ruang parent, sedangkan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wrap_content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menyesuaikan ukuran isi widget.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262" y="3204120"/>
            <a:ext cx="15363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2615" y="3204120"/>
            <a:ext cx="62421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54764" y="3204120"/>
            <a:ext cx="32609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262" y="3661320"/>
            <a:ext cx="15363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12615" y="3661320"/>
            <a:ext cx="62421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54764" y="3661320"/>
            <a:ext cx="32609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262" y="4108995"/>
            <a:ext cx="153635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12615" y="4108995"/>
            <a:ext cx="6242149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54764" y="4108995"/>
            <a:ext cx="326097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803" y="476250"/>
            <a:ext cx="1114858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1: Jenis Layout Utama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74828"/>
            <a:ext cx="1809750" cy="16838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0" y="1173360"/>
            <a:ext cx="25546050" cy="9181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9530"/>
            <a:ext cx="374153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77000"/>
            <a:ext cx="1104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1: Layout &amp;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9025" y="6477000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1173360"/>
            <a:ext cx="1524000" cy="1462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Android-ID Unik: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Setiap widget XML yang akan diakses dari Java harus memiliki atribut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android:id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788443"/>
            <a:ext cx="152400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setContentView():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Memuat file XML layout (misal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activity_main.xml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) ke dalam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159746"/>
            <a:ext cx="1524000" cy="14626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findViewById():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Mengambil objek widget XML agar dapat diberi event listener atau diubah isinya.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5927228"/>
            <a:ext cx="1390650" cy="9307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Urutan Wajib: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Panggil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setContentView()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terlebih dahulu sebelum memanggil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findViewById()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9875" y="1542901"/>
            <a:ext cx="1524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1" u="none">
                <a:solidFill>
                  <a:srgbClr val="64748B"/>
                </a:solidFill>
                <a:latin typeface="JetBrains Mono"/>
              </a:rPr>
              <a:t>// MainActivity.java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075" y="1542901"/>
            <a:ext cx="914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public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675" y="1542901"/>
            <a:ext cx="914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MainActivity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1542901"/>
            <a:ext cx="533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extends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875" y="1542901"/>
            <a:ext cx="1295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AppCompatActivity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4875" y="1542901"/>
            <a:ext cx="609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TextView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2675" y="1542901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91875" y="1542901"/>
            <a:ext cx="685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@Override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53875" y="1542901"/>
            <a:ext cx="238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protected void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96875" y="154290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onCreate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82675" y="154290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Bundle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92475" y="154290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super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78675" y="154290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612475" y="154290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84275" y="154290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R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206698"/>
            <a:ext cx="15240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21781"/>
            <a:ext cx="152400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93083"/>
            <a:ext cx="152400" cy="1809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9003" y="476250"/>
            <a:ext cx="1106857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1: Menghubungkan XML ke Java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74653"/>
            <a:ext cx="11049000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32533"/>
            <a:ext cx="5410200" cy="22516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932533"/>
            <a:ext cx="5410200" cy="22516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027908"/>
            <a:ext cx="4933950" cy="9181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027908"/>
            <a:ext cx="4933950" cy="9181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29530"/>
            <a:ext cx="297953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477000"/>
            <a:ext cx="695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2: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58550" y="6477000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612778"/>
            <a:ext cx="11101387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Membawa Data (putExtra &amp; Bundle)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946153"/>
            <a:ext cx="10572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Data dikirim sebagai pasangan key-value menggunakan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intent.putExtra("KEY", data)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dan diterima pada Activity tujuan menggunakan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getIntent().getStringExta("KEY")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170658"/>
            <a:ext cx="5180647" cy="23812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Explicit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504033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Menentukan Activity tujuan secara spesifik dan langsung di dalam aplikasi.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170658"/>
            <a:ext cx="5180647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Implicit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504033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Menentukan aksi umum tanpa menyebutkan komponen spesifik (misal: buka browser/kamera).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650878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2208758"/>
            <a:ext cx="23812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9650" y="3397448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8850" y="3397448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3650" y="3397448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50" y="3397448"/>
            <a:ext cx="304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this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4250" y="3397448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DetailActivity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208758"/>
            <a:ext cx="17145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48450" y="3397448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7650" y="3397448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2450" y="3397448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850" y="3397448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49050" y="3397448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Uri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11050" y="3397448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4D399"/>
                </a:solidFill>
                <a:latin typeface="JetBrains Mono"/>
              </a:rPr>
              <a:t>"https://google.com"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803" y="476250"/>
            <a:ext cx="1114858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2: Navigasi dengan Intent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38401"/>
            <a:ext cx="11049000" cy="918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297953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998440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Ketika Activity pemanggil membutuhkan balasan data dari Activity tujuan, gunakan standar modern </a:t>
            </a:r>
            <a:r>
              <a:rPr b="1" sz="1200" i="0" u="none">
                <a:solidFill>
                  <a:srgbClr val="CBD5E1"/>
                </a:solidFill>
                <a:latin typeface="Plus Jakarta Sans"/>
              </a:rPr>
              <a:t>Activity Result API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(menggantikan cara lama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startActivityForResult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yang telah deprecated).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77000"/>
            <a:ext cx="695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2: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8550" y="6477000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07941"/>
            <a:ext cx="304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1" u="none">
                <a:solidFill>
                  <a:srgbClr val="64748B"/>
                </a:solidFill>
                <a:latin typeface="JetBrains Mono"/>
              </a:rPr>
              <a:t>// Mendaftarkan Launcher dengan Callback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725" y="4007941"/>
            <a:ext cx="1676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ActivityResultLauncher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8325" y="4007941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3525" y="4007941"/>
            <a:ext cx="228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58325" y="4007941"/>
            <a:ext cx="1752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ActivityResultContracts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87125" y="4007941"/>
            <a:ext cx="9048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StartActivityForResult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827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687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RESULT_OK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833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929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743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4D399"/>
                </a:solidFill>
                <a:latin typeface="JetBrains Mono"/>
              </a:rPr>
              <a:t>"RESULT_DATA"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557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1" u="none">
                <a:solidFill>
                  <a:srgbClr val="64748B"/>
                </a:solidFill>
                <a:latin typeface="JetBrains Mono"/>
              </a:rPr>
              <a:t>// Membuka Activity Tujuan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131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323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371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705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this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27725" y="4007941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PilihItemActivity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803" y="476250"/>
            <a:ext cx="1114858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2: Menangani Hasil dari Activity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73723"/>
            <a:ext cx="5410200" cy="1028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4073723"/>
            <a:ext cx="5410200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77467"/>
            <a:ext cx="1143000" cy="5676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3077467"/>
            <a:ext cx="1066800" cy="5676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00" y="3077467"/>
            <a:ext cx="1143000" cy="56763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077467"/>
            <a:ext cx="1066800" cy="56763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300" y="3077467"/>
            <a:ext cx="1028700" cy="56763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1300" y="3077467"/>
            <a:ext cx="1219200" cy="56763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29530"/>
            <a:ext cx="297953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19325" y="2452687"/>
            <a:ext cx="77533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Sistem Android memanggil fungsi callback lifecycle secara otomatis saat terjadi perubahan status halaman.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477000"/>
            <a:ext cx="1285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3: Activity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58550" y="6477000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3950" y="3346995"/>
            <a:ext cx="994410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191767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2C55E"/>
                </a:solidFill>
                <a:latin typeface="JetBrains Mono"/>
              </a:rPr>
              <a:t>onCreate()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363217"/>
            <a:ext cx="762000" cy="16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b="0" sz="825" i="0" u="none">
                <a:solidFill>
                  <a:srgbClr val="94A3B8"/>
                </a:solidFill>
                <a:latin typeface="Plus Jakarta Sans"/>
              </a:rPr>
              <a:t>Inisialisasi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300" y="3191767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2C55E"/>
                </a:solidFill>
                <a:latin typeface="JetBrains Mono"/>
              </a:rPr>
              <a:t>onStart()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1300" y="3363217"/>
            <a:ext cx="685800" cy="16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b="0" sz="825" i="0" u="none">
                <a:solidFill>
                  <a:srgbClr val="94A3B8"/>
                </a:solidFill>
                <a:latin typeface="Plus Jakarta Sans"/>
              </a:rPr>
              <a:t>Mulai Terlihat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3191767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2C55E"/>
                </a:solidFill>
                <a:latin typeface="JetBrains Mono"/>
              </a:rPr>
              <a:t>onResume()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400" y="3363217"/>
            <a:ext cx="762000" cy="16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b="0" sz="825" i="0" u="none">
                <a:solidFill>
                  <a:srgbClr val="94A3B8"/>
                </a:solidFill>
                <a:latin typeface="Plus Jakarta Sans"/>
              </a:rPr>
              <a:t>Siap Interaksi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3191767"/>
            <a:ext cx="685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2C55E"/>
                </a:solidFill>
                <a:latin typeface="JetBrains Mono"/>
              </a:rPr>
              <a:t>onPause()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3700" y="3363217"/>
            <a:ext cx="685800" cy="16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b="0" sz="825" i="0" u="none">
                <a:solidFill>
                  <a:srgbClr val="94A3B8"/>
                </a:solidFill>
                <a:latin typeface="Plus Jakarta Sans"/>
              </a:rPr>
              <a:t>Fokus Hilang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91767"/>
            <a:ext cx="647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2C55E"/>
                </a:solidFill>
                <a:latin typeface="JetBrains Mono"/>
              </a:rPr>
              <a:t>onStop()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363217"/>
            <a:ext cx="647700" cy="16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b="0" sz="825" i="0" u="none">
                <a:solidFill>
                  <a:srgbClr val="94A3B8"/>
                </a:solidFill>
                <a:latin typeface="Plus Jakarta Sans"/>
              </a:rPr>
              <a:t>Tidak Terlihat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1800" y="3191767"/>
            <a:ext cx="838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2C55E"/>
                </a:solidFill>
                <a:latin typeface="JetBrains Mono"/>
              </a:rPr>
              <a:t>onDestroy()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800" y="3363217"/>
            <a:ext cx="838200" cy="167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b="0" sz="825" i="0" u="none">
                <a:solidFill>
                  <a:srgbClr val="94A3B8"/>
                </a:solidFill>
                <a:latin typeface="Plus Jakarta Sans"/>
              </a:rPr>
              <a:t>Dihancurkan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4311848"/>
            <a:ext cx="5180647" cy="23812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Aplikasi Dibuka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4645223"/>
            <a:ext cx="4933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onCreate()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→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onStart()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→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onResume()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4311848"/>
            <a:ext cx="5180647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Dibuka Kembali dari Background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425" y="4645223"/>
            <a:ext cx="49339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onRestart()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→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onStart()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→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onResume()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4349948"/>
            <a:ext cx="142875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4349948"/>
            <a:ext cx="190500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2803" y="476250"/>
            <a:ext cx="1114858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3: Activity Lifecycle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1608236"/>
            <a:ext cx="27070050" cy="918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221753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6477000"/>
            <a:ext cx="1285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3: Activity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025" y="6477000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608236"/>
            <a:ext cx="2266950" cy="170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Saat terjadi rotasi layar (Configuration Change), Activity lama akan dihancurkan (destroyed) dan dibuat ulang. Data masukan sementara dapat hilang jika tidak disimpan.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448050"/>
            <a:ext cx="198120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onSaveInstanceState():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Menyimpan data sementara ke dalam Bundle sebelum Activity dihancurkan.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819352"/>
            <a:ext cx="19812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onRestoreInstanceState():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Memulihkan data dari Bundle saat Activity dibuat ulang.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7075" y="1977776"/>
            <a:ext cx="685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@Override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075" y="1977776"/>
            <a:ext cx="106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protected 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2075" y="1977776"/>
            <a:ext cx="1447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onSaveInstanceState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75" y="1977776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875" y="1977776"/>
            <a:ext cx="381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super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10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4D399"/>
                </a:solidFill>
                <a:latin typeface="JetBrains Mono"/>
              </a:rPr>
              <a:t>"INPUT_KEY"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62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@Override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782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protected void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212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onRestoreInstanceState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738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Bundle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740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super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744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41475" y="1977776"/>
            <a:ext cx="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4D399"/>
                </a:solidFill>
                <a:latin typeface="JetBrains Mono"/>
              </a:rPr>
              <a:t>"INPUT_KEY"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81387"/>
            <a:ext cx="1524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52689"/>
            <a:ext cx="171450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6603" y="476250"/>
            <a:ext cx="1122859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3: Menyimpan State UI Sementara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5110"/>
            <a:ext cx="5410200" cy="340488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075110"/>
            <a:ext cx="5410200" cy="34048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9530"/>
            <a:ext cx="297953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6477000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4: Database &amp;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58550" y="6477000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31323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922835"/>
            <a:ext cx="518064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SharedPreferences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256210"/>
            <a:ext cx="4933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Menyimpan data sederhana berbentuk </a:t>
            </a:r>
            <a:r>
              <a:rPr b="1" sz="1125" i="0" u="none">
                <a:solidFill>
                  <a:srgbClr val="94A3B8"/>
                </a:solidFill>
                <a:latin typeface="Plus Jakarta Sans"/>
              </a:rPr>
              <a:t>Key-Value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31323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8425" y="2922835"/>
            <a:ext cx="518064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SQLite &amp; Room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256210"/>
            <a:ext cx="4933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Penyimpanan data lokal relasional terstruktur.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2427535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5375" y="3565773"/>
            <a:ext cx="4648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Cocok untuk: Pengaturan aplikasi, session login, preferensi tema (Dark Mode).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375" y="4205733"/>
            <a:ext cx="46482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Tipe data: String, Int, Boolean, Float.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4601914"/>
            <a:ext cx="4648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Ditulis via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SharedPreferences.Editor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dengan method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apply()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atau 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commit()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012" y="2427535"/>
            <a:ext cx="20002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34175" y="3565773"/>
            <a:ext cx="46482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Entity: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Merekpresentasikan tabel database.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175" y="3961953"/>
            <a:ext cx="4648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DAO: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Menyediakan operasi CRUD (Insert, Update, Delete, Query).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4601914"/>
            <a:ext cx="46482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Database: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Komponen utama pembuat instance database.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3599110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239071"/>
            <a:ext cx="17145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635251"/>
            <a:ext cx="17145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599110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995291"/>
            <a:ext cx="171450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4635251"/>
            <a:ext cx="171450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2803" y="476250"/>
            <a:ext cx="1114858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4: Penyimpanan Data Lokal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3774"/>
            <a:ext cx="11049000" cy="13333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17836"/>
            <a:ext cx="3555950" cy="14525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217836"/>
            <a:ext cx="3555950" cy="14525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217836"/>
            <a:ext cx="3556099" cy="14525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464694"/>
            <a:ext cx="10629900" cy="7200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29530"/>
            <a:ext cx="374153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477000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Pilar 4: Database &amp;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7000"/>
            <a:ext cx="419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156174"/>
            <a:ext cx="10629900" cy="23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E2E8F0"/>
                </a:solidFill>
                <a:latin typeface="Plus Jakarta Sans"/>
              </a:rPr>
              <a:t>Wajib Mengatur Permission: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Aplikasi yang membutuhkan akses internet harus mendeklarasikan permission pada file 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AndroidManifest.xml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455961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OkHttp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789336"/>
            <a:ext cx="30797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Library HTTP Client tingkat rendah yang menangani koneksi jaringan, request, dan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2455961"/>
            <a:ext cx="323368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Retrofit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075" y="2789336"/>
            <a:ext cx="30797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Type-safe HTTP client yang menyederhanakan pemanggilan endpoint REST API dengan interface Java.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525" y="2455961"/>
            <a:ext cx="323384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Gson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2789336"/>
            <a:ext cx="30798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Library untuk melakukan konversi dari format JSON server ke Object Java (Deserialization) &amp; sebaliknya.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4834235"/>
            <a:ext cx="3200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4D399"/>
                </a:solidFill>
                <a:latin typeface="JetBrains Mono"/>
              </a:rPr>
              <a:t>android:name="android.permission.INTERNET"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925" y="4834235"/>
            <a:ext cx="152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43F5E"/>
                </a:solidFill>
                <a:latin typeface="JetBrains Mono"/>
              </a:rPr>
              <a:t>/&gt;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003" y="476250"/>
            <a:ext cx="1106857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Pilar 4: Komunikasi REST API &amp;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9530"/>
            <a:ext cx="221753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6477000"/>
            <a:ext cx="933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Ringkasan Cepat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025" y="6477000"/>
            <a:ext cx="371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863304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Layout XML: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Menentukan susunan tampilan antarmuka (UI).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59484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setContentView():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Menghubungkan file XML ke Activity Java.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55665"/>
            <a:ext cx="51244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findViewById():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Mengambil instance widget XML di Java berdasarkan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95626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Intent: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Alat navigasi dan pengirim data antar komponen.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2863304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Lifecycle: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Mengatur aksi aplikasi berdasarkan status/event Activity.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259484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onSaveInstanceState():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Menjaga state UI saat terjadi rotasi layar.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655665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SharedPreferences: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Penyimpanan data kecil berformat key-value.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4051845"/>
            <a:ext cx="5124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CBD5E1"/>
                </a:solidFill>
                <a:latin typeface="Plus Jakarta Sans"/>
              </a:rPr>
              <a:t>Retrofit &amp; Room: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Solusi standar industri untuk API dan Database lokal.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96641"/>
            <a:ext cx="1905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92822"/>
            <a:ext cx="1905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89002"/>
            <a:ext cx="1905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28963"/>
            <a:ext cx="1905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896641"/>
            <a:ext cx="1905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292822"/>
            <a:ext cx="19050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689002"/>
            <a:ext cx="1905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085183"/>
            <a:ext cx="190500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6603" y="476250"/>
            <a:ext cx="1122859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F8FAFC"/>
                </a:solidFill>
                <a:latin typeface="Plus Jakarta Sans"/>
              </a:rPr>
              <a:t>Cheat Sheet: Rangkuman Kunci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692" y="4319587"/>
            <a:ext cx="2258466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6353175"/>
            <a:ext cx="110490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005012"/>
            <a:ext cx="762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35805" y="2995612"/>
            <a:ext cx="3120390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FFFFFF"/>
                </a:solidFill>
                <a:latin typeface="Plus Jakarta Sans ExtraBold"/>
              </a:rPr>
              <a:t>Terima Kasih!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5662" y="3729037"/>
            <a:ext cx="5400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Siap untuk Mulai Membangun Aplikasi Android Pertama Anda?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77000"/>
            <a:ext cx="390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Selesai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86950" y="6477000"/>
            <a:ext cx="1733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Plus Jakarta Sans"/>
              </a:rPr>
              <a:t>Mobile Programming Presentasi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7" y="2195512"/>
            <a:ext cx="428625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