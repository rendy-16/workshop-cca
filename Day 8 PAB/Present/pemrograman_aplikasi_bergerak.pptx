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4400" b="1">
                <a:solidFill>
                  <a:srgbClr val="FFFFFF"/>
                </a:solidFill>
                <a:latin typeface="Trebuchet MS"/>
              </a:defRPr>
            </a:pPr>
            <a:r>
              <a:t>Pemrograman Aplikasi Bergerak</a:t>
            </a:r>
          </a:p>
          <a:p>
            <a:pPr>
              <a:spcAft>
                <a:spcPts val="4000"/>
              </a:spcAft>
              <a:defRPr sz="1800">
                <a:solidFill>
                  <a:srgbClr val="D0D0D0"/>
                </a:solidFill>
                <a:latin typeface="Arial"/>
              </a:defRPr>
            </a:pPr>
            <a:r>
              <a:t>Panduan dasar pengembangan aplikasi mobile native Android berbasis XML dan Java untuk pemula.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754880"/>
            <a:ext cx="2926080" cy="4572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DB8FF"/>
                </a:solidFill>
                <a:latin typeface="Arial"/>
              </a:defRPr>
            </a:pPr>
            <a:r>
              <a:t>Android Native (XML + Java)</a:t>
            </a:r>
          </a:p>
        </p:txBody>
      </p:sp>
      <p:pic>
        <p:nvPicPr>
          <p:cNvPr id="4" name="Picture 3" descr="android_app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572000" cy="411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0" y="1371600"/>
            <a:ext cx="4572000" cy="4114800"/>
          </a:xfrm>
          <a:prstGeom prst="rect">
            <a:avLst/>
          </a:prstGeom>
          <a:noFill/>
          <a:ln w="25400">
            <a:solidFill>
              <a:srgbClr val="3D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3DB8FF"/>
                </a:solidFill>
                <a:latin typeface="Trebuchet MS"/>
              </a:defRPr>
            </a:pPr>
            <a:r>
              <a:t>Empat Pilar Android Native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5400"/>
          </a:xfrm>
          <a:prstGeom prst="rect">
            <a:avLst/>
          </a:prstGeom>
          <a:solidFill>
            <a:srgbClr val="3D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D0D0D0"/>
                </a:solidFill>
                <a:latin typeface="Arial"/>
              </a:defRPr>
            </a:pPr>
            <a:r>
              <a:t>Fondasi utama yang wajib dikuasai untuk membangun aplikasi native Android yang kokoh dan efisien.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606040" cy="4114800"/>
          </a:xfrm>
          <a:prstGeom prst="roundRect">
            <a:avLst/>
          </a:prstGeom>
          <a:solidFill>
            <a:srgbClr val="10141C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0"/>
          <a:lstStyle/>
          <a:p>
            <a:pPr algn="ctr">
              <a:spcAft>
                <a:spcPts val="1200"/>
              </a:spcAft>
              <a:defRPr sz="1800" b="1">
                <a:solidFill>
                  <a:srgbClr val="3DB8FF"/>
                </a:solidFill>
                <a:latin typeface="Trebuchet MS"/>
              </a:defRPr>
            </a:pPr>
            <a:r>
              <a:t>Layout dan View</a:t>
            </a:r>
          </a:p>
          <a:p>
            <a:pPr>
              <a:spcAft>
                <a:spcPts val="2000"/>
              </a:spcAft>
              <a:defRPr sz="1300">
                <a:solidFill>
                  <a:srgbClr val="D0D0D0"/>
                </a:solidFill>
                <a:latin typeface="Arial"/>
              </a:defRPr>
            </a:pPr>
            <a:r>
              <a:t>Mengatur tata letak halaman dan menyusun komponen visual (perabot) seperti Button, TextView, dan EditText agar interaktif.</a:t>
            </a:r>
          </a:p>
          <a:p>
            <a:pPr>
              <a:defRPr sz="1100">
                <a:solidFill>
                  <a:srgbClr val="909090"/>
                </a:solidFill>
                <a:latin typeface="Courier New"/>
              </a:defRPr>
            </a:pPr>
            <a:r>
              <a:t>Fokus: res/layout/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606040" cy="137160"/>
          </a:xfrm>
          <a:prstGeom prst="rect">
            <a:avLst/>
          </a:prstGeom>
          <a:solidFill>
            <a:srgbClr val="3D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37560" y="1828800"/>
            <a:ext cx="2606040" cy="4114800"/>
          </a:xfrm>
          <a:prstGeom prst="roundRect">
            <a:avLst/>
          </a:prstGeom>
          <a:solidFill>
            <a:srgbClr val="10141C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0"/>
          <a:lstStyle/>
          <a:p>
            <a:pPr algn="ctr">
              <a:spcAft>
                <a:spcPts val="1200"/>
              </a:spcAft>
              <a:defRPr sz="1800" b="1">
                <a:solidFill>
                  <a:srgbClr val="3DB8FF"/>
                </a:solidFill>
                <a:latin typeface="Trebuchet MS"/>
              </a:defRPr>
            </a:pPr>
            <a:r>
              <a:t>Intent</a:t>
            </a:r>
          </a:p>
          <a:p>
            <a:pPr>
              <a:spcAft>
                <a:spcPts val="2000"/>
              </a:spcAft>
              <a:defRPr sz="1300">
                <a:solidFill>
                  <a:srgbClr val="D0D0D0"/>
                </a:solidFill>
                <a:latin typeface="Arial"/>
              </a:defRPr>
            </a:pPr>
            <a:r>
              <a:t>Mekanisme navigasi untuk berpindah halaman (Activity) serta mengirim data antar-komponen di dalam aplikasi.</a:t>
            </a:r>
          </a:p>
          <a:p>
            <a:pPr>
              <a:defRPr sz="1100">
                <a:solidFill>
                  <a:srgbClr val="909090"/>
                </a:solidFill>
                <a:latin typeface="Courier New"/>
              </a:defRPr>
            </a:pPr>
            <a:r>
              <a:t>Fokus: startActivity()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828800"/>
            <a:ext cx="2606040" cy="137160"/>
          </a:xfrm>
          <a:prstGeom prst="rect">
            <a:avLst/>
          </a:prstGeom>
          <a:solidFill>
            <a:srgbClr val="3D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606040" cy="4114800"/>
          </a:xfrm>
          <a:prstGeom prst="roundRect">
            <a:avLst/>
          </a:prstGeom>
          <a:solidFill>
            <a:srgbClr val="10141C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0"/>
          <a:lstStyle/>
          <a:p>
            <a:pPr algn="ctr">
              <a:spcAft>
                <a:spcPts val="1200"/>
              </a:spcAft>
              <a:defRPr sz="1800" b="1">
                <a:solidFill>
                  <a:srgbClr val="3DB8FF"/>
                </a:solidFill>
                <a:latin typeface="Trebuchet MS"/>
              </a:defRPr>
            </a:pPr>
            <a:r>
              <a:t>Activity Lifecycle</a:t>
            </a:r>
          </a:p>
          <a:p>
            <a:pPr>
              <a:spcAft>
                <a:spcPts val="2000"/>
              </a:spcAft>
              <a:defRPr sz="1300">
                <a:solidFill>
                  <a:srgbClr val="D0D0D0"/>
                </a:solidFill>
                <a:latin typeface="Arial"/>
              </a:defRPr>
            </a:pPr>
            <a:r>
              <a:t>Mengelola siklus hidup layar aplikasi dari kondisi dibuat (onCreate), aktif (onResume), hingga dihancurkan (onDestroy) dari memori.</a:t>
            </a:r>
          </a:p>
          <a:p>
            <a:pPr>
              <a:defRPr sz="1100">
                <a:solidFill>
                  <a:srgbClr val="909090"/>
                </a:solidFill>
                <a:latin typeface="Courier New"/>
              </a:defRPr>
            </a:pPr>
            <a:r>
              <a:t>Fokus: lifecycle callbacks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2606040" cy="137160"/>
          </a:xfrm>
          <a:prstGeom prst="rect">
            <a:avLst/>
          </a:prstGeom>
          <a:solidFill>
            <a:srgbClr val="3D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98280" y="1828800"/>
            <a:ext cx="2606040" cy="4114800"/>
          </a:xfrm>
          <a:prstGeom prst="roundRect">
            <a:avLst/>
          </a:prstGeom>
          <a:solidFill>
            <a:srgbClr val="10141C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0"/>
          <a:lstStyle/>
          <a:p>
            <a:pPr algn="ctr">
              <a:spcAft>
                <a:spcPts val="1200"/>
              </a:spcAft>
              <a:defRPr sz="1800" b="1">
                <a:solidFill>
                  <a:srgbClr val="3DB8FF"/>
                </a:solidFill>
                <a:latin typeface="Trebuchet MS"/>
              </a:defRPr>
            </a:pPr>
            <a:r>
              <a:t>Database dan API</a:t>
            </a:r>
          </a:p>
          <a:p>
            <a:pPr>
              <a:spcAft>
                <a:spcPts val="2000"/>
              </a:spcAft>
              <a:defRPr sz="1300">
                <a:solidFill>
                  <a:srgbClr val="D0D0D0"/>
                </a:solidFill>
                <a:latin typeface="Arial"/>
              </a:defRPr>
            </a:pPr>
            <a:r>
              <a:t>Metode penyimpanan data lokal secara terstruktur (SQLite) atau melakukan pertukaran data secara online menggunakan API (Retrofit).</a:t>
            </a:r>
          </a:p>
          <a:p>
            <a:pPr>
              <a:defRPr sz="1100">
                <a:solidFill>
                  <a:srgbClr val="909090"/>
                </a:solidFill>
                <a:latin typeface="Courier New"/>
              </a:defRPr>
            </a:pPr>
            <a:r>
              <a:t>Fokus: SQLite / Retrofit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98280" y="1828800"/>
            <a:ext cx="2606040" cy="137160"/>
          </a:xfrm>
          <a:prstGeom prst="rect">
            <a:avLst/>
          </a:prstGeom>
          <a:solidFill>
            <a:srgbClr val="3D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3DB8FF"/>
                </a:solidFill>
                <a:latin typeface="Trebuchet MS"/>
              </a:defRPr>
            </a:pPr>
            <a:r>
              <a:t>Arsitektur Antarmuka: Layout, View, dan XML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5400"/>
          </a:xfrm>
          <a:prstGeom prst="rect">
            <a:avLst/>
          </a:prstGeom>
          <a:solidFill>
            <a:srgbClr val="3D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800" b="1">
                <a:solidFill>
                  <a:srgbClr val="3DB8FF"/>
                </a:solidFill>
                <a:latin typeface="Trebuchet MS"/>
              </a:defRPr>
            </a:pPr>
            <a:r>
              <a:t>Layout (Wadah)</a:t>
            </a:r>
          </a:p>
          <a:p>
            <a:pPr>
              <a:spcAft>
                <a:spcPts val="1000"/>
              </a:spcAft>
              <a:defRPr sz="1400">
                <a:solidFill>
                  <a:srgbClr val="D0D0D0"/>
                </a:solidFill>
                <a:latin typeface="Arial"/>
              </a:defRPr>
            </a:pPr>
            <a:r>
              <a:t>Merupakan kerangka atau container (ViewGroup) yang menentukan bagaimana elemen antarmuka diatur dan diposisikan secara visual.</a:t>
            </a:r>
          </a:p>
          <a:p>
            <a:pPr>
              <a:spcBef>
                <a:spcPts val="1000"/>
              </a:spcBef>
              <a:defRPr sz="1800" b="1">
                <a:solidFill>
                  <a:srgbClr val="3DB8FF"/>
                </a:solidFill>
                <a:latin typeface="Trebuchet MS"/>
              </a:defRPr>
            </a:pPr>
            <a:r>
              <a:t>View (Komponen)</a:t>
            </a:r>
          </a:p>
          <a:p>
            <a:pPr>
              <a:spcAft>
                <a:spcPts val="1000"/>
              </a:spcAft>
              <a:defRPr sz="1400">
                <a:solidFill>
                  <a:srgbClr val="D0D0D0"/>
                </a:solidFill>
                <a:latin typeface="Arial"/>
              </a:defRPr>
            </a:pPr>
            <a:r>
              <a:t>Objek visual interaktif (widget) yang ditempatkan di dalam Layout. Contohnya: TextView, Button, EditText, dan ImageView.</a:t>
            </a:r>
          </a:p>
          <a:p>
            <a:pPr>
              <a:spcBef>
                <a:spcPts val="1000"/>
              </a:spcBef>
              <a:defRPr sz="1800" b="1">
                <a:solidFill>
                  <a:srgbClr val="3DB8FF"/>
                </a:solidFill>
                <a:latin typeface="Trebuchet MS"/>
              </a:defRPr>
            </a:pPr>
            <a:r>
              <a:t>XML (Struktur UI)</a:t>
            </a:r>
          </a:p>
          <a:p>
            <a:pPr>
              <a:spcAft>
                <a:spcPts val="1000"/>
              </a:spcAft>
              <a:defRPr sz="1400">
                <a:solidFill>
                  <a:srgbClr val="D0D0D0"/>
                </a:solidFill>
                <a:latin typeface="Arial"/>
              </a:defRPr>
            </a:pPr>
            <a:r>
              <a:t>Bahasa markup yang digunakan untuk menyusun elemen-elemen antarmuka secara deklaratif di Android Studio.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486400" cy="4114800"/>
          </a:xfrm>
          <a:prstGeom prst="rect">
            <a:avLst/>
          </a:prstGeom>
          <a:solidFill>
            <a:srgbClr val="10141C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D0D0D0"/>
                </a:solidFill>
                <a:latin typeface="Courier New"/>
              </a:defRPr>
            </a:pPr>
            <a:r>
              <a:t>&lt;!-- Definisikan View Button dalam XML --&gt;</a:t>
            </a:r>
            <a:br/>
            <a:r>
              <a:t>&lt;Button</a:t>
            </a:r>
            <a:br/>
            <a:r>
              <a:t>    android:id="@+id/btn_say_hello"</a:t>
            </a:r>
            <a:br/>
            <a:r>
              <a:t>    android:layout_width="match_parent"</a:t>
            </a:r>
            <a:br/>
            <a:r>
              <a:t>    android:layout_height="wrap_content"</a:t>
            </a:r>
            <a:br/>
            <a:r>
              <a:t>    android:text="Say Hello"</a:t>
            </a:r>
            <a:br/>
            <a:r>
              <a:t>    android:textAllCaps="false"</a:t>
            </a:r>
            <a:br/>
            <a:r>
              <a:t>    android:textColor="#FFFFFF"</a:t>
            </a:r>
            <a:br/>
            <a:r>
              <a:t>    android:backgroundTint="@color/blue" /&gt;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5577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909090"/>
                </a:solidFill>
                <a:latin typeface="Arial"/>
              </a:defRPr>
            </a:pPr>
            <a:r>
              <a:t>Atribut XML (lebar, tinggi, teks, warna) menentukan properties visual dari 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3DB8FF"/>
                </a:solidFill>
                <a:latin typeface="Trebuchet MS"/>
              </a:defRPr>
            </a:pPr>
            <a:r>
              <a:t>Layout Manager dan Konsep Section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5400"/>
          </a:xfrm>
          <a:prstGeom prst="rect">
            <a:avLst/>
          </a:prstGeom>
          <a:solidFill>
            <a:srgbClr val="3D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2926080"/>
          </a:xfrm>
          <a:prstGeom prst="roundRect">
            <a:avLst/>
          </a:prstGeom>
          <a:solidFill>
            <a:srgbClr val="10141C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400"/>
              </a:spcAft>
              <a:defRPr sz="1600" b="1">
                <a:solidFill>
                  <a:srgbClr val="3DB8FF"/>
                </a:solidFill>
                <a:latin typeface="Trebuchet MS"/>
              </a:defRPr>
            </a:pPr>
            <a:r>
              <a:t>LinearLayout</a:t>
            </a:r>
          </a:p>
          <a:p>
            <a:pPr>
              <a:spcAft>
                <a:spcPts val="1200"/>
              </a:spcAft>
              <a:defRPr sz="1200">
                <a:solidFill>
                  <a:srgbClr val="D0D0D0"/>
                </a:solidFill>
                <a:latin typeface="Arial"/>
              </a:defRPr>
            </a:pPr>
            <a:r>
              <a:t>Menyusun komponen secara linear berurutan ke satu arah, baik Vertikal maupun Horizontal.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2926080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16352"/>
            <a:ext cx="2560320" cy="304800"/>
          </a:xfrm>
          <a:prstGeom prst="rect">
            <a:avLst/>
          </a:prstGeom>
          <a:solidFill>
            <a:srgbClr val="003366"/>
          </a:solidFill>
          <a:ln w="12700">
            <a:solidFill>
              <a:srgbClr val="3D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Komponen 1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166872"/>
            <a:ext cx="2560320" cy="304800"/>
          </a:xfrm>
          <a:prstGeom prst="rect">
            <a:avLst/>
          </a:prstGeom>
          <a:solidFill>
            <a:srgbClr val="003366"/>
          </a:solidFill>
          <a:ln w="12700">
            <a:solidFill>
              <a:srgbClr val="3D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Komponen 2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517392"/>
            <a:ext cx="2560320" cy="304800"/>
          </a:xfrm>
          <a:prstGeom prst="rect">
            <a:avLst/>
          </a:prstGeom>
          <a:solidFill>
            <a:srgbClr val="003366"/>
          </a:solidFill>
          <a:ln w="12700">
            <a:solidFill>
              <a:srgbClr val="3D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Komponen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474720" cy="2926080"/>
          </a:xfrm>
          <a:prstGeom prst="roundRect">
            <a:avLst/>
          </a:prstGeom>
          <a:solidFill>
            <a:srgbClr val="10141C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400"/>
              </a:spcAft>
              <a:defRPr sz="1600" b="1">
                <a:solidFill>
                  <a:srgbClr val="3DB8FF"/>
                </a:solidFill>
                <a:latin typeface="Trebuchet MS"/>
              </a:defRPr>
            </a:pPr>
            <a:r>
              <a:t>RelativeLayout</a:t>
            </a:r>
          </a:p>
          <a:p>
            <a:pPr>
              <a:spcAft>
                <a:spcPts val="1200"/>
              </a:spcAft>
              <a:defRPr sz="1200">
                <a:solidFill>
                  <a:srgbClr val="D0D0D0"/>
                </a:solidFill>
                <a:latin typeface="Arial"/>
              </a:defRPr>
            </a:pPr>
            <a:r>
              <a:t>Menyusun komponen secara dinamis berdasarkan posisi relatif terhadap elemen lain atau induk (parent).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743200"/>
            <a:ext cx="2926080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2880360"/>
            <a:ext cx="1097280" cy="365760"/>
          </a:xfrm>
          <a:prstGeom prst="rect">
            <a:avLst/>
          </a:prstGeom>
          <a:solidFill>
            <a:srgbClr val="003366"/>
          </a:solidFill>
          <a:ln>
            <a:solidFill>
              <a:srgbClr val="3D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337560"/>
            <a:ext cx="1188720" cy="365760"/>
          </a:xfrm>
          <a:prstGeom prst="rect">
            <a:avLst/>
          </a:prstGeom>
          <a:solidFill>
            <a:srgbClr val="10141C"/>
          </a:solidFill>
          <a:ln>
            <a:solidFill>
              <a:srgbClr val="3D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B (Below/Right)</a:t>
            </a:r>
          </a:p>
        </p:txBody>
      </p:sp>
      <p:sp>
        <p:nvSpPr>
          <p:cNvPr id="13" name="Chevron 12"/>
          <p:cNvSpPr/>
          <p:nvPr/>
        </p:nvSpPr>
        <p:spPr>
          <a:xfrm>
            <a:off x="5760720" y="3154680"/>
            <a:ext cx="228600" cy="137160"/>
          </a:xfrm>
          <a:prstGeom prst="chevron">
            <a:avLst/>
          </a:prstGeom>
          <a:solidFill>
            <a:srgbClr val="3D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474720" cy="2926080"/>
          </a:xfrm>
          <a:prstGeom prst="roundRect">
            <a:avLst/>
          </a:prstGeom>
          <a:solidFill>
            <a:srgbClr val="10141C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400"/>
              </a:spcAft>
              <a:defRPr sz="1600" b="1">
                <a:solidFill>
                  <a:srgbClr val="3DB8FF"/>
                </a:solidFill>
                <a:latin typeface="Trebuchet MS"/>
              </a:defRPr>
            </a:pPr>
            <a:r>
              <a:t>FrameLayout</a:t>
            </a:r>
          </a:p>
          <a:p>
            <a:pPr>
              <a:spcAft>
                <a:spcPts val="1200"/>
              </a:spcAft>
              <a:defRPr sz="1200">
                <a:solidFill>
                  <a:srgbClr val="D0D0D0"/>
                </a:solidFill>
                <a:latin typeface="Arial"/>
              </a:defRPr>
            </a:pPr>
            <a:r>
              <a:t>Menyusun komponen secara bertumpuk (overlap) satu di atas yang lain. Biasanya untuk splash screen atau fragmen.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2743200"/>
            <a:ext cx="2926080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40" y="2834640"/>
            <a:ext cx="1645920" cy="640080"/>
          </a:xfrm>
          <a:prstGeom prst="rect">
            <a:avLst/>
          </a:prstGeom>
          <a:solidFill>
            <a:srgbClr val="3DB8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Top 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2971800"/>
            <a:ext cx="1645920" cy="640080"/>
          </a:xfrm>
          <a:prstGeom prst="rect">
            <a:avLst/>
          </a:prstGeom>
          <a:solidFill>
            <a:srgbClr val="0055A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Middle Layer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3108960"/>
            <a:ext cx="1645920" cy="640080"/>
          </a:xfrm>
          <a:prstGeom prst="rect">
            <a:avLst/>
          </a:prstGeom>
          <a:solidFill>
            <a:srgbClr val="00336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Base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80560"/>
            <a:ext cx="112772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3DB8FF"/>
                </a:solidFill>
                <a:latin typeface="Trebuchet MS"/>
              </a:defRPr>
            </a:pPr>
            <a:r>
              <a:t>Konsep Section dalam Desain UI</a:t>
            </a:r>
          </a:p>
          <a:p>
            <a:pPr>
              <a:defRPr sz="1400">
                <a:solidFill>
                  <a:srgbClr val="D0D0D0"/>
                </a:solidFill>
                <a:latin typeface="Arial"/>
              </a:defRPr>
            </a:pPr>
            <a:r>
              <a:t>Section adalah pemecahan tata letak desain menjadi bagian-bagian logis (seperti Header, Body/Konten, Form Input, Tombol, dan Footer Navigasi). Setiap Section dipetakan menjadi ViewGroup (Layout) tersendiri dalam XML untuk mempermudah proses konversi desain visual secara terstruktur.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3DB8FF"/>
                </a:solidFill>
                <a:latin typeface="Trebuchet MS"/>
              </a:defRPr>
            </a:pPr>
            <a:r>
              <a:t>Mengubah Desain UI Menjadi Kode XML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5400"/>
          </a:xfrm>
          <a:prstGeom prst="rect">
            <a:avLst/>
          </a:prstGeom>
          <a:solidFill>
            <a:srgbClr val="3D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DB8FF"/>
                </a:solidFill>
                <a:latin typeface="Trebuchet MS"/>
              </a:defRPr>
            </a:pPr>
            <a:r>
              <a:t>Alur Konversi Desain ke XML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1. Analisis Desain Visual</a:t>
            </a:r>
          </a:p>
          <a:p>
            <a:pPr>
              <a:spcAft>
                <a:spcPts val="600"/>
              </a:spcAft>
              <a:defRPr sz="1200">
                <a:solidFill>
                  <a:srgbClr val="909090"/>
                </a:solidFill>
                <a:latin typeface="Arial"/>
              </a:defRPr>
            </a:pPr>
            <a:r>
              <a:t>Membaca wireframe/desain mockup secara menyeluruh.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2. Bagi ke dalam Section</a:t>
            </a:r>
          </a:p>
          <a:p>
            <a:pPr>
              <a:spcAft>
                <a:spcPts val="600"/>
              </a:spcAft>
              <a:defRPr sz="1200">
                <a:solidFill>
                  <a:srgbClr val="909090"/>
                </a:solidFill>
                <a:latin typeface="Arial"/>
              </a:defRPr>
            </a:pPr>
            <a:r>
              <a:t>Membagi UI menjadi blok Header, Form, Tombol, dsb.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3. Tentukan Root Layout</a:t>
            </a:r>
          </a:p>
          <a:p>
            <a:pPr>
              <a:spcAft>
                <a:spcPts val="600"/>
              </a:spcAft>
              <a:defRPr sz="1200">
                <a:solidFill>
                  <a:srgbClr val="909090"/>
                </a:solidFill>
                <a:latin typeface="Arial"/>
              </a:defRPr>
            </a:pPr>
            <a:r>
              <a:t>Memilih LinearLayout, RelativeLayout, atau Constraint Layout.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4. Deklarasikan View</a:t>
            </a:r>
          </a:p>
          <a:p>
            <a:pPr>
              <a:spcAft>
                <a:spcPts val="600"/>
              </a:spcAft>
              <a:defRPr sz="1200">
                <a:solidFill>
                  <a:srgbClr val="909090"/>
                </a:solidFill>
                <a:latin typeface="Arial"/>
              </a:defRPr>
            </a:pPr>
            <a:r>
              <a:t>Mengonversi elemen visual menjadi tag TextView, EditText, Button.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5. Atur Hubungan &amp; ID</a:t>
            </a:r>
          </a:p>
          <a:p>
            <a:pPr>
              <a:spcAft>
                <a:spcPts val="600"/>
              </a:spcAft>
              <a:defRPr sz="1200">
                <a:solidFill>
                  <a:srgbClr val="909090"/>
                </a:solidFill>
                <a:latin typeface="Arial"/>
              </a:defRPr>
            </a:pPr>
            <a:r>
              <a:t>Memberikan ID (@+id/...) agar dapat diakses dari Java controller.</a:t>
            </a:r>
          </a:p>
        </p:txBody>
      </p:sp>
      <p:pic>
        <p:nvPicPr>
          <p:cNvPr id="5" name="Picture 4" descr="login_mock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292608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26880" y="137160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DB8FF"/>
                </a:solidFill>
                <a:latin typeface="Trebuchet MS"/>
              </a:defRPr>
            </a:pPr>
            <a:r>
              <a:t>Pemetaan Elemen UI:</a:t>
            </a:r>
          </a:p>
          <a:p>
            <a:pPr>
              <a:spcAft>
                <a:spcPts val="800"/>
              </a:spcAft>
              <a:defRPr sz="1200">
                <a:solidFill>
                  <a:srgbClr val="D0D0D0"/>
                </a:solidFill>
                <a:latin typeface="Arial"/>
              </a:defRPr>
            </a:pPr>
            <a:r>
              <a:t>• Logo Aplikasi</a:t>
            </a:r>
            <a:br/>
            <a:r>
              <a:t>  → ImageView</a:t>
            </a:r>
          </a:p>
          <a:p>
            <a:pPr>
              <a:spcAft>
                <a:spcPts val="800"/>
              </a:spcAft>
              <a:defRPr sz="1200">
                <a:solidFill>
                  <a:srgbClr val="D0D0D0"/>
                </a:solidFill>
                <a:latin typeface="Arial"/>
              </a:defRPr>
            </a:pPr>
            <a:r>
              <a:t>• Judul &amp; Label</a:t>
            </a:r>
            <a:br/>
            <a:r>
              <a:t>  → TextView</a:t>
            </a:r>
          </a:p>
          <a:p>
            <a:pPr>
              <a:spcAft>
                <a:spcPts val="800"/>
              </a:spcAft>
              <a:defRPr sz="1200">
                <a:solidFill>
                  <a:srgbClr val="D0D0D0"/>
                </a:solidFill>
                <a:latin typeface="Arial"/>
              </a:defRPr>
            </a:pPr>
            <a:r>
              <a:t>• Kolom Input</a:t>
            </a:r>
            <a:br/>
            <a:r>
              <a:t>  → EditText</a:t>
            </a:r>
          </a:p>
          <a:p>
            <a:pPr>
              <a:spcAft>
                <a:spcPts val="800"/>
              </a:spcAft>
              <a:defRPr sz="1200">
                <a:solidFill>
                  <a:srgbClr val="D0D0D0"/>
                </a:solidFill>
                <a:latin typeface="Arial"/>
              </a:defRPr>
            </a:pPr>
            <a:r>
              <a:t>• Tombol Aksi</a:t>
            </a:r>
            <a:br/>
            <a:r>
              <a:t>  → Button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3DB8FF"/>
                </a:solidFill>
                <a:latin typeface="Trebuchet MS"/>
              </a:defRPr>
            </a:pPr>
            <a:r>
              <a:t>Menghubungkan Layout XML dan Logika Java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5400"/>
          </a:xfrm>
          <a:prstGeom prst="rect">
            <a:avLst/>
          </a:prstGeom>
          <a:solidFill>
            <a:srgbClr val="3D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4114800"/>
          </a:xfrm>
          <a:prstGeom prst="rect">
            <a:avLst/>
          </a:prstGeom>
          <a:solidFill>
            <a:srgbClr val="10141C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D0D0D0"/>
                </a:solidFill>
                <a:latin typeface="Courier New"/>
              </a:defRPr>
            </a:pPr>
            <a:r>
              <a:t>// Java: Hubungkan Layout dengan Logika</a:t>
            </a:r>
            <a:br/>
            <a:r>
              <a:t>public class MainActivity extends AppCompatActivity {</a:t>
            </a:r>
            <a:br/>
            <a:r>
              <a:t>    @Override</a:t>
            </a:r>
            <a:br/>
            <a:r>
              <a:t>    protected void onCreate(Bundle savedInstanceState) {</a:t>
            </a:r>
            <a:br/>
            <a:r>
              <a:t>        super.onCreate(savedInstanceState);</a:t>
            </a:r>
            <a:br/>
            <a:r>
              <a:t>        setContentView(R.layout.activity_main);</a:t>
            </a:r>
            <a:br/>
            <a:br/>
            <a:r>
              <a:t>        // Ambil komponen XML berdasarkan ID-nya</a:t>
            </a:r>
            <a:br/>
            <a:r>
              <a:t>        Button btn = findViewById(R.id.btn_submit);</a:t>
            </a:r>
            <a:br/>
            <a:r>
              <a:t>        EditText input = findViewById(R.id.edit_name);</a:t>
            </a:r>
            <a:br/>
            <a:br/>
            <a:r>
              <a:t>        // Daftarkan event Click</a:t>
            </a:r>
            <a:br/>
            <a:r>
              <a:t>        btn.setOnClickListener(new View.OnClickListener() {</a:t>
            </a:r>
            <a:br/>
            <a:r>
              <a:t>            @Override</a:t>
            </a:r>
            <a:br/>
            <a:r>
              <a:t>            public void onClick(View v) {</a:t>
            </a:r>
            <a:br/>
            <a:r>
              <a:t>                String name = input.getText().toString();</a:t>
            </a:r>
            <a:br/>
            <a:r>
              <a:t>                Toast.makeText(MainActivity.this,</a:t>
            </a:r>
            <a:br/>
            <a:r>
              <a:t>                    "Halo " + name, Toast.LENGTH_SHORT).show();</a:t>
            </a:r>
            <a:br/>
            <a:r>
              <a:t>            }</a:t>
            </a:r>
            <a:br/>
            <a:r>
              <a:t>        });</a:t>
            </a:r>
            <a:br/>
            <a:r>
              <a:t>    }</a:t>
            </a:r>
            <a:br/>
            <a:r>
              <a:t>}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137160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137160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3DB8FF"/>
                          </a:solidFill>
                          <a:latin typeface="Trebuchet MS"/>
                        </a:rPr>
                        <a:t>Resource (folder res/)</a:t>
                      </a:r>
                    </a:p>
                  </a:txBody>
                  <a:tcPr marT="101600" marB="101600" marL="101600" marR="10160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3DB8FF"/>
                          </a:solidFill>
                          <a:latin typeface="Trebuchet MS"/>
                        </a:rPr>
                        <a:t>Java Code (folder java/)</a:t>
                      </a:r>
                    </a:p>
                  </a:txBody>
                  <a:tcPr marT="101600" marB="101600" marL="101600" marR="101600">
                    <a:solidFill>
                      <a:srgbClr val="003366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0D0D0"/>
                          </a:solidFill>
                          <a:latin typeface="Arial"/>
                        </a:rPr>
                        <a:t>• Menentukan 'bagaimana tampilan'.</a:t>
                      </a:r>
                    </a:p>
                    <a:p>
                      <a:r>
                        <a:rPr sz="1100">
                          <a:solidFill>
                            <a:srgbClr val="D0D0D0"/>
                          </a:solidFill>
                          <a:latin typeface="Arial"/>
                        </a:rPr>
                        <a:t>• File statis yang menyusun UI seperti layout XML, gambar drawable, warna, style, dan strings.xml.</a:t>
                      </a:r>
                    </a:p>
                  </a:txBody>
                  <a:tcPr marT="101600" marB="101600" marL="101600" marR="101600">
                    <a:solidFill>
                      <a:srgbClr val="10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0D0D0"/>
                          </a:solidFill>
                          <a:latin typeface="Arial"/>
                        </a:rPr>
                        <a:t>• Menentukan 'bagaimana aplikasi berperilaku'.</a:t>
                      </a:r>
                    </a:p>
                    <a:p>
                      <a:r>
                        <a:rPr sz="1100">
                          <a:solidFill>
                            <a:srgbClr val="D0D0D0"/>
                          </a:solidFill>
                          <a:latin typeface="Arial"/>
                        </a:rPr>
                        <a:t>• File dinamis berisi alur logika, validasi input, pemrosesan data, API networking, dan navigasi (Intent).</a:t>
                      </a:r>
                    </a:p>
                  </a:txBody>
                  <a:tcPr marT="101600" marB="101600" marL="101600" marR="101600">
                    <a:solidFill>
                      <a:srgbClr val="10141C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0D0D0"/>
                          </a:solidFill>
                          <a:latin typeface="Arial"/>
                        </a:rPr>
                        <a:t>• XML Layout: R.layout.activity_main</a:t>
                      </a:r>
                    </a:p>
                    <a:p>
                      <a:r>
                        <a:rPr sz="1100">
                          <a:solidFill>
                            <a:srgbClr val="D0D0D0"/>
                          </a:solidFill>
                          <a:latin typeface="Arial"/>
                        </a:rPr>
                        <a:t>• ID View: R.id.btn_submit</a:t>
                      </a:r>
                    </a:p>
                    <a:p>
                      <a:r>
                        <a:rPr sz="1100">
                          <a:solidFill>
                            <a:srgbClr val="D0D0D0"/>
                          </a:solidFill>
                          <a:latin typeface="Arial"/>
                        </a:rPr>
                        <a:t>• Teks Statis: @string/app_name</a:t>
                      </a:r>
                    </a:p>
                  </a:txBody>
                  <a:tcPr marT="101600" marB="101600" marL="101600" marR="101600">
                    <a:solidFill>
                      <a:srgbClr val="10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0D0D0"/>
                          </a:solidFill>
                          <a:latin typeface="Arial"/>
                        </a:rPr>
                        <a:t>• Hubungkan: findViewById()</a:t>
                      </a:r>
                    </a:p>
                    <a:p>
                      <a:r>
                        <a:rPr sz="1100">
                          <a:solidFill>
                            <a:srgbClr val="D0D0D0"/>
                          </a:solidFill>
                          <a:latin typeface="Arial"/>
                        </a:rPr>
                        <a:t>• Navigasi: Intent i = new Intent(...)</a:t>
                      </a:r>
                    </a:p>
                    <a:p>
                      <a:r>
                        <a:rPr sz="1100">
                          <a:solidFill>
                            <a:srgbClr val="D0D0D0"/>
                          </a:solidFill>
                          <a:latin typeface="Arial"/>
                        </a:rPr>
                        <a:t>• Siklus Hidup: onCreate(), onDestroy()</a:t>
                      </a:r>
                    </a:p>
                  </a:txBody>
                  <a:tcPr marT="101600" marB="101600" marL="101600" marR="101600">
                    <a:solidFill>
                      <a:srgbClr val="1014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3DB8FF"/>
                </a:solidFill>
                <a:latin typeface="Trebuchet MS"/>
              </a:defRPr>
            </a:pPr>
            <a:r>
              <a:t>Pengembangan dengan Android Studio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5400"/>
          </a:xfrm>
          <a:prstGeom prst="rect">
            <a:avLst/>
          </a:prstGeom>
          <a:solidFill>
            <a:srgbClr val="3D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6217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DB8FF"/>
                </a:solidFill>
                <a:latin typeface="Trebuchet MS"/>
              </a:defRPr>
            </a:pPr>
            <a:r>
              <a:t>Bagian Utama Workspace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Project Panel</a:t>
            </a:r>
          </a:p>
          <a:p>
            <a:pPr>
              <a:spcAft>
                <a:spcPts val="400"/>
              </a:spcAft>
              <a:defRPr sz="1100">
                <a:solidFill>
                  <a:srgbClr val="D0D0D0"/>
                </a:solidFill>
                <a:latin typeface="Arial"/>
              </a:defRPr>
            </a:pPr>
            <a:r>
              <a:t>  Struktur folder file program, asset, dan manifest.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Code Editor &amp; Layout Editor</a:t>
            </a:r>
          </a:p>
          <a:p>
            <a:pPr>
              <a:spcAft>
                <a:spcPts val="400"/>
              </a:spcAft>
              <a:defRPr sz="1100">
                <a:solidFill>
                  <a:srgbClr val="D0D0D0"/>
                </a:solidFill>
                <a:latin typeface="Arial"/>
              </a:defRPr>
            </a:pPr>
            <a:r>
              <a:t>  Menulis kode Java dan mendesain layout XML (bisa visual/drag-and-drop dengan Palette).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Device Manager</a:t>
            </a:r>
          </a:p>
          <a:p>
            <a:pPr>
              <a:spcAft>
                <a:spcPts val="400"/>
              </a:spcAft>
              <a:defRPr sz="1100">
                <a:solidFill>
                  <a:srgbClr val="D0D0D0"/>
                </a:solidFill>
                <a:latin typeface="Arial"/>
              </a:defRPr>
            </a:pPr>
            <a:r>
              <a:t>  Mengelola Android Virtual Device (AVD) / emulator untuk uji coba.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Run &amp; Logcat Console</a:t>
            </a:r>
          </a:p>
          <a:p>
            <a:pPr>
              <a:spcAft>
                <a:spcPts val="400"/>
              </a:spcAft>
              <a:defRPr sz="1100">
                <a:solidFill>
                  <a:srgbClr val="D0D0D0"/>
                </a:solidFill>
                <a:latin typeface="Arial"/>
              </a:defRPr>
            </a:pPr>
            <a:r>
              <a:t>  Menjalankan aplikasi dan melacak jalannya program / error log.</a:t>
            </a:r>
          </a:p>
          <a:p>
            <a:pPr>
              <a:spcBef>
                <a:spcPts val="1000"/>
              </a:spcBef>
              <a:defRPr sz="1500" b="1">
                <a:solidFill>
                  <a:srgbClr val="3DB8FF"/>
                </a:solidFill>
                <a:latin typeface="Trebuchet MS"/>
              </a:defRPr>
            </a:pPr>
            <a:r>
              <a:t>Alur Kerja Dasar Pemula:</a:t>
            </a:r>
          </a:p>
          <a:p>
            <a:pPr>
              <a:spcBef>
                <a:spcPts val="300"/>
              </a:spcBef>
              <a:defRPr sz="1200" i="1">
                <a:solidFill>
                  <a:srgbClr val="D0D0D0"/>
                </a:solidFill>
                <a:latin typeface="Arial"/>
              </a:defRPr>
            </a:pPr>
            <a:r>
              <a:t>1. New Project → 2. Pilih Empty Activity → 3. Edit File XML Layout → 4. Tulis Logika Java Controller → 5. Jalankan Emulator AVD → 6. Monitor Error di Logcat.</a:t>
            </a:r>
          </a:p>
        </p:txBody>
      </p:sp>
      <p:pic>
        <p:nvPicPr>
          <p:cNvPr id="5" name="Picture 4" descr="android_studio_de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57200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0" y="1371600"/>
            <a:ext cx="4572000" cy="4114800"/>
          </a:xfrm>
          <a:prstGeom prst="rect">
            <a:avLst/>
          </a:prstGeom>
          <a:noFill/>
          <a:ln w="19050">
            <a:solidFill>
              <a:srgbClr val="3D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3DB8FF"/>
                </a:solidFill>
                <a:latin typeface="Trebuchet MS"/>
              </a:defRPr>
            </a:pPr>
            <a:r>
              <a:t>Rangkuman Pembelajaran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✔ Antarmuka XML</a:t>
            </a:r>
          </a:p>
          <a:p>
            <a:pPr>
              <a:spcAft>
                <a:spcPts val="600"/>
              </a:spcAft>
              <a:defRPr sz="1200">
                <a:solidFill>
                  <a:srgbClr val="D0D0D0"/>
                </a:solidFill>
                <a:latin typeface="Arial"/>
              </a:defRPr>
            </a:pPr>
            <a:r>
              <a:t>   Mengatur layout, tata letak visual, dan widget statis.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✔ Logika Java</a:t>
            </a:r>
          </a:p>
          <a:p>
            <a:pPr>
              <a:spcAft>
                <a:spcPts val="600"/>
              </a:spcAft>
              <a:defRPr sz="1200">
                <a:solidFill>
                  <a:srgbClr val="D0D0D0"/>
                </a:solidFill>
                <a:latin typeface="Arial"/>
              </a:defRPr>
            </a:pPr>
            <a:r>
              <a:t>   Mengatur perilaku aplikasi, event click, dan validasi data.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✔ Intent Navigasi</a:t>
            </a:r>
          </a:p>
          <a:p>
            <a:pPr>
              <a:spcAft>
                <a:spcPts val="600"/>
              </a:spcAft>
              <a:defRPr sz="1200">
                <a:solidFill>
                  <a:srgbClr val="D0D0D0"/>
                </a:solidFill>
                <a:latin typeface="Arial"/>
              </a:defRPr>
            </a:pPr>
            <a:r>
              <a:t>   Mengontrol perpindahan halaman dan transfer data.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✔ Lifecycle Activity</a:t>
            </a:r>
          </a:p>
          <a:p>
            <a:pPr>
              <a:spcAft>
                <a:spcPts val="600"/>
              </a:spcAft>
              <a:defRPr sz="1200">
                <a:solidFill>
                  <a:srgbClr val="D0D0D0"/>
                </a:solidFill>
                <a:latin typeface="Arial"/>
              </a:defRPr>
            </a:pPr>
            <a:r>
              <a:t>   Menjamin efisiensi pemakaian memori dan baterai.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✔ Data &amp; API</a:t>
            </a:r>
          </a:p>
          <a:p>
            <a:pPr>
              <a:spcAft>
                <a:spcPts val="600"/>
              </a:spcAft>
              <a:defRPr sz="1200">
                <a:solidFill>
                  <a:srgbClr val="D0D0D0"/>
                </a:solidFill>
                <a:latin typeface="Arial"/>
              </a:defRPr>
            </a:pPr>
            <a:r>
              <a:t>   Menyimpan data lokal SQLite dan mengakses web service REST.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0" y="1371600"/>
            <a:ext cx="4572000" cy="4114800"/>
          </a:xfrm>
          <a:prstGeom prst="roundRect">
            <a:avLst/>
          </a:prstGeom>
          <a:solidFill>
            <a:srgbClr val="10141C"/>
          </a:solidFill>
          <a:ln w="31750">
            <a:solidFill>
              <a:srgbClr val="3D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800" b="1">
                <a:solidFill>
                  <a:srgbClr val="3DB8FF"/>
                </a:solidFill>
                <a:latin typeface="Trebuchet MS"/>
              </a:defRPr>
            </a:pPr>
            <a:br/>
            <a:br/>
            <a:r>
              <a:t>ADA</a:t>
            </a:r>
            <a:br/>
            <a:r>
              <a:t>PERTANYAAN?</a:t>
            </a:r>
          </a:p>
          <a:p>
            <a:pPr algn="ctr">
              <a:spcBef>
                <a:spcPts val="1200"/>
              </a:spcBef>
              <a:defRPr sz="1600">
                <a:solidFill>
                  <a:srgbClr val="FFFFFF"/>
                </a:solidFill>
                <a:latin typeface="Arial"/>
              </a:defRPr>
            </a:pPr>
            <a:r>
              <a:t>Mari kita diskusikan bersama!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