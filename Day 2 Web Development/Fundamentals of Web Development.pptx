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9" r:id="rId4"/>
    <p:sldId id="261" r:id="rId5"/>
    <p:sldId id="262" r:id="rId6"/>
    <p:sldId id="264" r:id="rId7"/>
    <p:sldId id="265" r:id="rId8"/>
    <p:sldId id="266" r:id="rId9"/>
    <p:sldId id="269" r:id="rId10"/>
    <p:sldId id="271" r:id="rId11"/>
    <p:sldId id="270" r:id="rId12"/>
    <p:sldId id="273" r:id="rId13"/>
    <p:sldId id="274" r:id="rId14"/>
  </p:sldIdLst>
  <p:sldSz cx="12192000" cy="6858000"/>
  <p:notesSz cx="68580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Plus Jakarta Sans" panose="020B0604020202020204" charset="0"/>
      <p:regular r:id="rId20"/>
      <p:bold r:id="rId21"/>
      <p:italic r:id="rId22"/>
      <p:boldItalic r:id="rId23"/>
    </p:embeddedFont>
    <p:embeddedFont>
      <p:font typeface="Space Grotesk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5E3B"/>
    <a:srgbClr val="DEFF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51EF68F-DCF5-41E3-B9CA-BC6C8DC277A4}">
  <a:tblStyle styleId="{651EF68F-DCF5-41E3-B9CA-BC6C8DC277A4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683" autoAdjust="0"/>
    <p:restoredTop sz="94495" autoAdjust="0"/>
  </p:normalViewPr>
  <p:slideViewPr>
    <p:cSldViewPr snapToGrid="0">
      <p:cViewPr>
        <p:scale>
          <a:sx n="100" d="100"/>
          <a:sy n="100" d="100"/>
        </p:scale>
        <p:origin x="204" y="31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9" name="Google Shape;15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9" name="Google Shape;32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87" name="Google Shape;4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4.png"/><Relationship Id="rId5" Type="http://schemas.openxmlformats.org/officeDocument/2006/relationships/image" Target="../media/image6.png"/><Relationship Id="rId10" Type="http://schemas.openxmlformats.org/officeDocument/2006/relationships/image" Target="../media/image3.png"/><Relationship Id="rId4" Type="http://schemas.openxmlformats.org/officeDocument/2006/relationships/image" Target="../media/image5.png"/><Relationship Id="rId9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4.png"/><Relationship Id="rId5" Type="http://schemas.openxmlformats.org/officeDocument/2006/relationships/image" Target="../media/image12.png"/><Relationship Id="rId10" Type="http://schemas.openxmlformats.org/officeDocument/2006/relationships/image" Target="../media/image3.png"/><Relationship Id="rId4" Type="http://schemas.openxmlformats.org/officeDocument/2006/relationships/image" Target="../media/image11.png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10" Type="http://schemas.openxmlformats.org/officeDocument/2006/relationships/image" Target="../media/image4.png"/><Relationship Id="rId4" Type="http://schemas.openxmlformats.org/officeDocument/2006/relationships/image" Target="../media/image16.png"/><Relationship Id="rId9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17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5" Type="http://schemas.openxmlformats.org/officeDocument/2006/relationships/image" Target="../media/image3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Relationship Id="rId1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10" Type="http://schemas.openxmlformats.org/officeDocument/2006/relationships/image" Target="../media/image34.png"/><Relationship Id="rId4" Type="http://schemas.openxmlformats.org/officeDocument/2006/relationships/image" Target="../media/image31.png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image" Target="../media/image1.pn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.png"/><Relationship Id="rId5" Type="http://schemas.openxmlformats.org/officeDocument/2006/relationships/image" Target="../media/image36.png"/><Relationship Id="rId10" Type="http://schemas.openxmlformats.org/officeDocument/2006/relationships/image" Target="../media/image3.png"/><Relationship Id="rId4" Type="http://schemas.openxmlformats.org/officeDocument/2006/relationships/image" Target="../media/image35.png"/><Relationship Id="rId9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3.png"/><Relationship Id="rId5" Type="http://schemas.openxmlformats.org/officeDocument/2006/relationships/image" Target="../media/image41.png"/><Relationship Id="rId10" Type="http://schemas.openxmlformats.org/officeDocument/2006/relationships/image" Target="../media/image2.png"/><Relationship Id="rId4" Type="http://schemas.openxmlformats.org/officeDocument/2006/relationships/image" Target="../media/image40.png"/><Relationship Id="rId9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10" Type="http://schemas.openxmlformats.org/officeDocument/2006/relationships/image" Target="../media/image4.png"/><Relationship Id="rId4" Type="http://schemas.openxmlformats.org/officeDocument/2006/relationships/image" Target="../media/image45.png"/><Relationship Id="rId9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1.png"/><Relationship Id="rId7" Type="http://schemas.openxmlformats.org/officeDocument/2006/relationships/image" Target="../media/image52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11" Type="http://schemas.openxmlformats.org/officeDocument/2006/relationships/image" Target="../media/image3.png"/><Relationship Id="rId5" Type="http://schemas.openxmlformats.org/officeDocument/2006/relationships/image" Target="../media/image50.png"/><Relationship Id="rId10" Type="http://schemas.openxmlformats.org/officeDocument/2006/relationships/image" Target="../media/image2.png"/><Relationship Id="rId4" Type="http://schemas.openxmlformats.org/officeDocument/2006/relationships/image" Target="../media/image49.png"/><Relationship Id="rId9" Type="http://schemas.openxmlformats.org/officeDocument/2006/relationships/image" Target="../media/image5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3.png"/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12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60.png"/><Relationship Id="rId5" Type="http://schemas.openxmlformats.org/officeDocument/2006/relationships/image" Target="../media/image41.png"/><Relationship Id="rId10" Type="http://schemas.openxmlformats.org/officeDocument/2006/relationships/image" Target="../media/image59.png"/><Relationship Id="rId4" Type="http://schemas.openxmlformats.org/officeDocument/2006/relationships/image" Target="../media/image55.png"/><Relationship Id="rId9" Type="http://schemas.openxmlformats.org/officeDocument/2006/relationships/image" Target="../media/image58.png"/><Relationship Id="rId1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3" Type="http://schemas.openxmlformats.org/officeDocument/2006/relationships/image" Target="../media/image1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11" Type="http://schemas.openxmlformats.org/officeDocument/2006/relationships/image" Target="../media/image4.png"/><Relationship Id="rId5" Type="http://schemas.openxmlformats.org/officeDocument/2006/relationships/image" Target="../media/image62.png"/><Relationship Id="rId10" Type="http://schemas.openxmlformats.org/officeDocument/2006/relationships/image" Target="../media/image3.png"/><Relationship Id="rId4" Type="http://schemas.openxmlformats.org/officeDocument/2006/relationships/image" Target="../media/image61.png"/><Relationship Id="rId9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3" Type="http://schemas.openxmlformats.org/officeDocument/2006/relationships/image" Target="../media/image1.png"/><Relationship Id="rId7" Type="http://schemas.openxmlformats.org/officeDocument/2006/relationships/image" Target="../media/image6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8.png"/><Relationship Id="rId11" Type="http://schemas.openxmlformats.org/officeDocument/2006/relationships/image" Target="../media/image4.png"/><Relationship Id="rId5" Type="http://schemas.openxmlformats.org/officeDocument/2006/relationships/image" Target="../media/image67.png"/><Relationship Id="rId10" Type="http://schemas.openxmlformats.org/officeDocument/2006/relationships/image" Target="../media/image3.png"/><Relationship Id="rId4" Type="http://schemas.openxmlformats.org/officeDocument/2006/relationships/image" Target="../media/image66.png"/><Relationship Id="rId9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1EEDAB3B-9CD7-F4D6-262F-BAFAFCBA46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6" name="Google Shape;86;p13"/>
          <p:cNvSpPr txBox="1"/>
          <p:nvPr/>
        </p:nvSpPr>
        <p:spPr>
          <a:xfrm>
            <a:off x="2293025" y="3429000"/>
            <a:ext cx="7605950" cy="769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5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PEMROGRAMAN WEB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498874" y="5045551"/>
            <a:ext cx="7620000" cy="357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 Pratama</a:t>
            </a:r>
            <a:endParaRPr dirty="0"/>
          </a:p>
        </p:txBody>
      </p:sp>
      <p:sp>
        <p:nvSpPr>
          <p:cNvPr id="94" name="Google Shape;94;p13"/>
          <p:cNvSpPr txBox="1"/>
          <p:nvPr/>
        </p:nvSpPr>
        <p:spPr>
          <a:xfrm>
            <a:off x="4951075" y="49450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BA2D9F-B1B1-03C8-F74A-4199FF4F73D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0465" y="186248"/>
            <a:ext cx="673390" cy="73641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3AC100-21BB-8BD2-1E20-B2996554F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18398" y="186248"/>
            <a:ext cx="2560953" cy="73641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FD3068-E36D-94E9-589C-BB62EE3A774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4948" y="186248"/>
            <a:ext cx="648502" cy="73641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mage.png">
            <a:extLst>
              <a:ext uri="{FF2B5EF4-FFF2-40B4-BE49-F238E27FC236}">
                <a16:creationId xmlns:a16="http://schemas.microsoft.com/office/drawing/2014/main" id="{F8241637-C380-E04F-00DC-514DA38A8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732797"/>
            <a:ext cx="1346894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08256" y="2195225"/>
            <a:ext cx="5419725" cy="830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08256" y="3272692"/>
            <a:ext cx="5419725" cy="103227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572166" y="1018872"/>
            <a:ext cx="10905743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World Wide Web (WWW / “Web”)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sistem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informasi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berbasis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internet yang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memungkinkan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dokumen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sumber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daya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saling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terhubung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 dan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dapat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diakses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melalui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 SemiBold"/>
                <a:cs typeface="Plus Jakarta Sans"/>
                <a:sym typeface="Plus Jakarta Sans"/>
              </a:rPr>
              <a:t> internet.</a:t>
            </a:r>
            <a:endParaRPr dirty="0"/>
          </a:p>
        </p:txBody>
      </p:sp>
      <p:sp>
        <p:nvSpPr>
          <p:cNvPr id="107" name="Google Shape;107;p14"/>
          <p:cNvSpPr txBox="1"/>
          <p:nvPr/>
        </p:nvSpPr>
        <p:spPr>
          <a:xfrm>
            <a:off x="658416" y="2364105"/>
            <a:ext cx="53106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Client</a:t>
            </a:r>
            <a:endParaRPr dirty="0"/>
          </a:p>
        </p:txBody>
      </p:sp>
      <p:sp>
        <p:nvSpPr>
          <p:cNvPr id="108" name="Google Shape;108;p14"/>
          <p:cNvSpPr txBox="1"/>
          <p:nvPr/>
        </p:nvSpPr>
        <p:spPr>
          <a:xfrm>
            <a:off x="658416" y="2621280"/>
            <a:ext cx="50577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Mengirim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permintaan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(request)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melalui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browser.</a:t>
            </a:r>
            <a:endParaRPr dirty="0"/>
          </a:p>
        </p:txBody>
      </p:sp>
      <p:sp>
        <p:nvSpPr>
          <p:cNvPr id="109" name="Google Shape;109;p14"/>
          <p:cNvSpPr txBox="1"/>
          <p:nvPr/>
        </p:nvSpPr>
        <p:spPr>
          <a:xfrm>
            <a:off x="633272" y="3358941"/>
            <a:ext cx="53106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00F3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Server </a:t>
            </a:r>
            <a:endParaRPr dirty="0"/>
          </a:p>
        </p:txBody>
      </p:sp>
      <p:sp>
        <p:nvSpPr>
          <p:cNvPr id="110" name="Google Shape;110;p14"/>
          <p:cNvSpPr txBox="1"/>
          <p:nvPr/>
        </p:nvSpPr>
        <p:spPr>
          <a:xfrm>
            <a:off x="633272" y="3616116"/>
            <a:ext cx="5057775" cy="5009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Menerima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client  </a:t>
            </a:r>
            <a:r>
              <a:rPr lang="en-US" sz="105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equest,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memproses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dan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mengembalikan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client </a:t>
            </a:r>
            <a:r>
              <a:rPr lang="en-US" sz="105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esponse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berupa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data/markup.</a:t>
            </a:r>
            <a:endParaRPr dirty="0"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416" y="2383155"/>
            <a:ext cx="166687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33272" y="3375074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4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TENTANG WEB &amp; </a:t>
            </a:r>
            <a:r>
              <a:rPr lang="en-US" sz="24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CARA KERJA</a:t>
            </a:r>
            <a:endParaRPr/>
          </a:p>
        </p:txBody>
      </p:sp>
      <p:sp>
        <p:nvSpPr>
          <p:cNvPr id="115" name="Google Shape;115;p14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5B850A3-B656-1DA7-81D7-70CCA6E2AFC7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479561EC-479B-E6EB-FF6B-2664C0B6F21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7B5C19B-E2A7-C4C7-6359-0EBDC6BDC7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E998729-2F9F-C770-19F6-0279DF710DE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57" name="TextBox 56">
            <a:extLst>
              <a:ext uri="{FF2B5EF4-FFF2-40B4-BE49-F238E27FC236}">
                <a16:creationId xmlns:a16="http://schemas.microsoft.com/office/drawing/2014/main" id="{1A6C1541-8C57-E2AD-0FF4-2ACC37BB0DC5}"/>
              </a:ext>
            </a:extLst>
          </p:cNvPr>
          <p:cNvSpPr txBox="1"/>
          <p:nvPr/>
        </p:nvSpPr>
        <p:spPr>
          <a:xfrm>
            <a:off x="6277927" y="4916043"/>
            <a:ext cx="5274764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00D5E0"/>
                </a:solidFill>
                <a:latin typeface="Aptos"/>
              </a:defRPr>
            </a:pPr>
            <a:r>
              <a:rPr sz="720" b="1">
                <a:solidFill>
                  <a:srgbClr val="00D6E8"/>
                </a:solidFill>
                <a:latin typeface="Aptos"/>
              </a:rPr>
              <a:t>Contoh kode: browser meminta halaman, server merespons, lalu data dapat diambil lewat API.</a:t>
            </a:r>
          </a:p>
        </p:txBody>
      </p:sp>
      <p:sp>
        <p:nvSpPr>
          <p:cNvPr id="59" name="Rounded Rectangle 118">
            <a:extLst>
              <a:ext uri="{FF2B5EF4-FFF2-40B4-BE49-F238E27FC236}">
                <a16:creationId xmlns:a16="http://schemas.microsoft.com/office/drawing/2014/main" id="{2652AA93-28F7-B2EC-24E0-028633A1145A}"/>
              </a:ext>
            </a:extLst>
          </p:cNvPr>
          <p:cNvSpPr/>
          <p:nvPr/>
        </p:nvSpPr>
        <p:spPr>
          <a:xfrm>
            <a:off x="6446520" y="2121408"/>
            <a:ext cx="5010912" cy="1078992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388E4B51-1203-F896-86D7-16D1E2551135}"/>
              </a:ext>
            </a:extLst>
          </p:cNvPr>
          <p:cNvSpPr/>
          <p:nvPr/>
        </p:nvSpPr>
        <p:spPr>
          <a:xfrm>
            <a:off x="6464807" y="2139696"/>
            <a:ext cx="4974336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76F0738D-15C4-56C2-D239-2AD379288432}"/>
              </a:ext>
            </a:extLst>
          </p:cNvPr>
          <p:cNvSpPr/>
          <p:nvPr/>
        </p:nvSpPr>
        <p:spPr>
          <a:xfrm>
            <a:off x="6592824" y="2235708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6109A742-DF71-2E44-1770-50395F8FD132}"/>
              </a:ext>
            </a:extLst>
          </p:cNvPr>
          <p:cNvSpPr/>
          <p:nvPr/>
        </p:nvSpPr>
        <p:spPr>
          <a:xfrm>
            <a:off x="6739128" y="2235708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F9AE3BBA-9039-6DE4-573B-D50356A47CE5}"/>
              </a:ext>
            </a:extLst>
          </p:cNvPr>
          <p:cNvSpPr/>
          <p:nvPr/>
        </p:nvSpPr>
        <p:spPr>
          <a:xfrm>
            <a:off x="6885432" y="2235708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08EFDB68-0661-27B4-1228-8AE8D822D551}"/>
              </a:ext>
            </a:extLst>
          </p:cNvPr>
          <p:cNvSpPr txBox="1"/>
          <p:nvPr/>
        </p:nvSpPr>
        <p:spPr>
          <a:xfrm>
            <a:off x="7016118" y="2208849"/>
            <a:ext cx="377647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>
                <a:solidFill>
                  <a:srgbClr val="EEF6F8"/>
                </a:solidFill>
                <a:latin typeface="Aptos"/>
              </a:rPr>
              <a:t>browser-</a:t>
            </a:r>
            <a:r>
              <a:rPr sz="750" b="1" dirty="0" err="1">
                <a:solidFill>
                  <a:srgbClr val="EEF6F8"/>
                </a:solidFill>
                <a:latin typeface="Aptos"/>
              </a:rPr>
              <a:t>request.http</a:t>
            </a:r>
            <a:endParaRPr sz="750" b="1" dirty="0">
              <a:solidFill>
                <a:srgbClr val="EEF6F8"/>
              </a:solidFill>
              <a:latin typeface="Aptos"/>
            </a:endParaRPr>
          </a:p>
        </p:txBody>
      </p:sp>
      <p:sp>
        <p:nvSpPr>
          <p:cNvPr id="71" name="Rounded Rectangle 124">
            <a:extLst>
              <a:ext uri="{FF2B5EF4-FFF2-40B4-BE49-F238E27FC236}">
                <a16:creationId xmlns:a16="http://schemas.microsoft.com/office/drawing/2014/main" id="{83A56B66-3BC9-8BF8-94E7-434CFE102CF7}"/>
              </a:ext>
            </a:extLst>
          </p:cNvPr>
          <p:cNvSpPr/>
          <p:nvPr/>
        </p:nvSpPr>
        <p:spPr>
          <a:xfrm>
            <a:off x="10707624" y="2176272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HTTP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3E21D28-3F20-3719-BD63-E433AED38C9F}"/>
              </a:ext>
            </a:extLst>
          </p:cNvPr>
          <p:cNvSpPr txBox="1"/>
          <p:nvPr/>
        </p:nvSpPr>
        <p:spPr>
          <a:xfrm>
            <a:off x="6592824" y="2542032"/>
            <a:ext cx="292608" cy="5669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19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BE51DDB-654E-3AD9-1A65-572052870B1A}"/>
              </a:ext>
            </a:extLst>
          </p:cNvPr>
          <p:cNvSpPr txBox="1"/>
          <p:nvPr/>
        </p:nvSpPr>
        <p:spPr>
          <a:xfrm>
            <a:off x="6922008" y="2542032"/>
            <a:ext cx="4370832" cy="5760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19" dirty="0">
                <a:solidFill>
                  <a:srgbClr val="EEF6F8"/>
                </a:solidFill>
                <a:latin typeface="Consolas"/>
              </a:rPr>
              <a:t>GET /index.html HTTP/1.1
Host: contoh.com
Accept: text/html</a:t>
            </a:r>
          </a:p>
        </p:txBody>
      </p:sp>
      <p:sp>
        <p:nvSpPr>
          <p:cNvPr id="77" name="Rounded Rectangle 127">
            <a:extLst>
              <a:ext uri="{FF2B5EF4-FFF2-40B4-BE49-F238E27FC236}">
                <a16:creationId xmlns:a16="http://schemas.microsoft.com/office/drawing/2014/main" id="{F2471874-B680-436C-43F2-CC9324FDAA5F}"/>
              </a:ext>
            </a:extLst>
          </p:cNvPr>
          <p:cNvSpPr/>
          <p:nvPr/>
        </p:nvSpPr>
        <p:spPr>
          <a:xfrm>
            <a:off x="6446520" y="3310128"/>
            <a:ext cx="5010912" cy="1051560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FCFF0DC8-2CF3-7235-9550-50FE3EF8CDEB}"/>
              </a:ext>
            </a:extLst>
          </p:cNvPr>
          <p:cNvSpPr/>
          <p:nvPr/>
        </p:nvSpPr>
        <p:spPr>
          <a:xfrm>
            <a:off x="6464807" y="3328416"/>
            <a:ext cx="4974336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A95187D7-D5FD-EA2A-D67E-949E07D8203D}"/>
              </a:ext>
            </a:extLst>
          </p:cNvPr>
          <p:cNvSpPr/>
          <p:nvPr/>
        </p:nvSpPr>
        <p:spPr>
          <a:xfrm>
            <a:off x="6592824" y="3424428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A07477FF-6AE7-77EB-5096-79280C593E8E}"/>
              </a:ext>
            </a:extLst>
          </p:cNvPr>
          <p:cNvSpPr/>
          <p:nvPr/>
        </p:nvSpPr>
        <p:spPr>
          <a:xfrm>
            <a:off x="6739128" y="3424428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83958B5-7498-AF5D-157F-178B5E9607A6}"/>
              </a:ext>
            </a:extLst>
          </p:cNvPr>
          <p:cNvSpPr/>
          <p:nvPr/>
        </p:nvSpPr>
        <p:spPr>
          <a:xfrm>
            <a:off x="6885432" y="3424428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73A8E686-8FF6-5494-FFA8-72AFAF550C63}"/>
              </a:ext>
            </a:extLst>
          </p:cNvPr>
          <p:cNvSpPr txBox="1"/>
          <p:nvPr/>
        </p:nvSpPr>
        <p:spPr>
          <a:xfrm>
            <a:off x="7016118" y="3397569"/>
            <a:ext cx="377647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>
                <a:solidFill>
                  <a:srgbClr val="EEF6F8"/>
                </a:solidFill>
                <a:latin typeface="Aptos"/>
              </a:rPr>
              <a:t>server-</a:t>
            </a:r>
            <a:r>
              <a:rPr sz="750" b="1" dirty="0" err="1">
                <a:solidFill>
                  <a:srgbClr val="EEF6F8"/>
                </a:solidFill>
                <a:latin typeface="Aptos"/>
              </a:rPr>
              <a:t>response.http</a:t>
            </a:r>
            <a:endParaRPr sz="750" b="1" dirty="0">
              <a:solidFill>
                <a:srgbClr val="EEF6F8"/>
              </a:solidFill>
              <a:latin typeface="Aptos"/>
            </a:endParaRPr>
          </a:p>
        </p:txBody>
      </p:sp>
      <p:sp>
        <p:nvSpPr>
          <p:cNvPr id="89" name="Rounded Rectangle 133">
            <a:extLst>
              <a:ext uri="{FF2B5EF4-FFF2-40B4-BE49-F238E27FC236}">
                <a16:creationId xmlns:a16="http://schemas.microsoft.com/office/drawing/2014/main" id="{7A7BA092-7F32-7581-8700-9F7FA3AD3D97}"/>
              </a:ext>
            </a:extLst>
          </p:cNvPr>
          <p:cNvSpPr/>
          <p:nvPr/>
        </p:nvSpPr>
        <p:spPr>
          <a:xfrm>
            <a:off x="10707624" y="3364992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SERVER</a:t>
            </a: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9DE3EB5F-97F4-2C47-C85C-66BE9737651C}"/>
              </a:ext>
            </a:extLst>
          </p:cNvPr>
          <p:cNvSpPr txBox="1"/>
          <p:nvPr/>
        </p:nvSpPr>
        <p:spPr>
          <a:xfrm>
            <a:off x="6592824" y="3730752"/>
            <a:ext cx="292608" cy="53949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19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EDC921C2-3D33-A29F-A7FC-56A7B011C976}"/>
              </a:ext>
            </a:extLst>
          </p:cNvPr>
          <p:cNvSpPr txBox="1"/>
          <p:nvPr/>
        </p:nvSpPr>
        <p:spPr>
          <a:xfrm>
            <a:off x="6922008" y="3730752"/>
            <a:ext cx="4370832" cy="5486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819">
                <a:solidFill>
                  <a:srgbClr val="EEF6F8"/>
                </a:solidFill>
                <a:latin typeface="Consolas"/>
              </a:rPr>
              <a:t>HTTP/1.1 200 OK
Content-Type: text/html
&lt;body&gt;Halaman web&lt;/body&gt;</a:t>
            </a:r>
          </a:p>
        </p:txBody>
      </p:sp>
      <p:sp>
        <p:nvSpPr>
          <p:cNvPr id="95" name="Rounded Rectangle 136">
            <a:extLst>
              <a:ext uri="{FF2B5EF4-FFF2-40B4-BE49-F238E27FC236}">
                <a16:creationId xmlns:a16="http://schemas.microsoft.com/office/drawing/2014/main" id="{27532D68-DD46-B0DD-5107-C9333A6BDDEE}"/>
              </a:ext>
            </a:extLst>
          </p:cNvPr>
          <p:cNvSpPr/>
          <p:nvPr/>
        </p:nvSpPr>
        <p:spPr>
          <a:xfrm>
            <a:off x="6446520" y="4480560"/>
            <a:ext cx="5010912" cy="960120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8C0A4B65-BBD7-F0FE-2442-F89D23223D51}"/>
              </a:ext>
            </a:extLst>
          </p:cNvPr>
          <p:cNvSpPr/>
          <p:nvPr/>
        </p:nvSpPr>
        <p:spPr>
          <a:xfrm>
            <a:off x="6464807" y="4498848"/>
            <a:ext cx="4974336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52BDD486-F2CD-7ABF-0B49-DA0A3DC591CA}"/>
              </a:ext>
            </a:extLst>
          </p:cNvPr>
          <p:cNvSpPr/>
          <p:nvPr/>
        </p:nvSpPr>
        <p:spPr>
          <a:xfrm>
            <a:off x="6592824" y="4594860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>
            <a:extLst>
              <a:ext uri="{FF2B5EF4-FFF2-40B4-BE49-F238E27FC236}">
                <a16:creationId xmlns:a16="http://schemas.microsoft.com/office/drawing/2014/main" id="{4B88DEB1-D9E7-9C8D-7DC2-1C02EB15B063}"/>
              </a:ext>
            </a:extLst>
          </p:cNvPr>
          <p:cNvSpPr/>
          <p:nvPr/>
        </p:nvSpPr>
        <p:spPr>
          <a:xfrm>
            <a:off x="6739128" y="4594860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>
            <a:extLst>
              <a:ext uri="{FF2B5EF4-FFF2-40B4-BE49-F238E27FC236}">
                <a16:creationId xmlns:a16="http://schemas.microsoft.com/office/drawing/2014/main" id="{6E62E59C-1FC6-407F-0375-92562A8FF9AC}"/>
              </a:ext>
            </a:extLst>
          </p:cNvPr>
          <p:cNvSpPr/>
          <p:nvPr/>
        </p:nvSpPr>
        <p:spPr>
          <a:xfrm>
            <a:off x="6885432" y="4594860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>
            <a:extLst>
              <a:ext uri="{FF2B5EF4-FFF2-40B4-BE49-F238E27FC236}">
                <a16:creationId xmlns:a16="http://schemas.microsoft.com/office/drawing/2014/main" id="{0EECA69C-4B7C-E201-77E5-FB94D849473B}"/>
              </a:ext>
            </a:extLst>
          </p:cNvPr>
          <p:cNvSpPr txBox="1"/>
          <p:nvPr/>
        </p:nvSpPr>
        <p:spPr>
          <a:xfrm>
            <a:off x="7016118" y="4568001"/>
            <a:ext cx="377647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>
                <a:solidFill>
                  <a:srgbClr val="EEF6F8"/>
                </a:solidFill>
                <a:latin typeface="Aptos"/>
              </a:rPr>
              <a:t>ambil-data.js</a:t>
            </a:r>
          </a:p>
        </p:txBody>
      </p:sp>
      <p:sp>
        <p:nvSpPr>
          <p:cNvPr id="123" name="Rounded Rectangle 142">
            <a:extLst>
              <a:ext uri="{FF2B5EF4-FFF2-40B4-BE49-F238E27FC236}">
                <a16:creationId xmlns:a16="http://schemas.microsoft.com/office/drawing/2014/main" id="{566926DE-86CE-9446-E9AF-8AAF26C2FC92}"/>
              </a:ext>
            </a:extLst>
          </p:cNvPr>
          <p:cNvSpPr/>
          <p:nvPr/>
        </p:nvSpPr>
        <p:spPr>
          <a:xfrm>
            <a:off x="10707624" y="4535424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JS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A9EC3459-64C1-E579-B5BB-4DCE21EE00C7}"/>
              </a:ext>
            </a:extLst>
          </p:cNvPr>
          <p:cNvSpPr txBox="1"/>
          <p:nvPr/>
        </p:nvSpPr>
        <p:spPr>
          <a:xfrm>
            <a:off x="6592824" y="4901184"/>
            <a:ext cx="292608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7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4BF5F1C3-64F0-6BDC-232A-5D887FAB0813}"/>
              </a:ext>
            </a:extLst>
          </p:cNvPr>
          <p:cNvSpPr txBox="1"/>
          <p:nvPr/>
        </p:nvSpPr>
        <p:spPr>
          <a:xfrm>
            <a:off x="6922008" y="4901184"/>
            <a:ext cx="4370832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70">
                <a:solidFill>
                  <a:srgbClr val="EEF6F8"/>
                </a:solidFill>
                <a:latin typeface="Consolas"/>
              </a:rPr>
              <a:t>fetch('/api/produk')
  .then(res =&gt; res.json())
  .then(data =&gt; tampilkan(data));</a:t>
            </a:r>
          </a:p>
        </p:txBody>
      </p:sp>
      <p:pic>
        <p:nvPicPr>
          <p:cNvPr id="6" name="Google Shape;104;p14" descr="image.png">
            <a:extLst>
              <a:ext uri="{FF2B5EF4-FFF2-40B4-BE49-F238E27FC236}">
                <a16:creationId xmlns:a16="http://schemas.microsoft.com/office/drawing/2014/main" id="{2896C796-6EF3-E418-94B1-0404D2CB481F}"/>
              </a:ext>
            </a:extLst>
          </p:cNvPr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08256" y="4535425"/>
            <a:ext cx="5419725" cy="750356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9;p14">
            <a:extLst>
              <a:ext uri="{FF2B5EF4-FFF2-40B4-BE49-F238E27FC236}">
                <a16:creationId xmlns:a16="http://schemas.microsoft.com/office/drawing/2014/main" id="{36BC2C59-865C-A9E4-08CA-3518BB4C6CCC}"/>
              </a:ext>
            </a:extLst>
          </p:cNvPr>
          <p:cNvSpPr txBox="1"/>
          <p:nvPr/>
        </p:nvSpPr>
        <p:spPr>
          <a:xfrm>
            <a:off x="633272" y="4621673"/>
            <a:ext cx="5310663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r>
              <a:rPr lang="en-US" sz="1200" b="1" dirty="0">
                <a:solidFill>
                  <a:srgbClr val="5E5E3B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Database</a:t>
            </a:r>
            <a:r>
              <a:rPr lang="en-US" sz="12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</a:t>
            </a:r>
            <a:endParaRPr dirty="0">
              <a:solidFill>
                <a:srgbClr val="DEFF9A"/>
              </a:solidFill>
            </a:endParaRPr>
          </a:p>
        </p:txBody>
      </p:sp>
      <p:sp>
        <p:nvSpPr>
          <p:cNvPr id="12" name="Google Shape;110;p14">
            <a:extLst>
              <a:ext uri="{FF2B5EF4-FFF2-40B4-BE49-F238E27FC236}">
                <a16:creationId xmlns:a16="http://schemas.microsoft.com/office/drawing/2014/main" id="{67B38D5B-D07F-9CE4-4690-840B7797C52B}"/>
              </a:ext>
            </a:extLst>
          </p:cNvPr>
          <p:cNvSpPr txBox="1"/>
          <p:nvPr/>
        </p:nvSpPr>
        <p:spPr>
          <a:xfrm>
            <a:off x="633272" y="4878848"/>
            <a:ext cx="50577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Mengakses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mengambil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yang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dibutuhkan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6" name="Google Shape;344;p23" descr="image.png">
            <a:extLst>
              <a:ext uri="{FF2B5EF4-FFF2-40B4-BE49-F238E27FC236}">
                <a16:creationId xmlns:a16="http://schemas.microsoft.com/office/drawing/2014/main" id="{BA7F6983-B9B7-C7BD-B41C-6B4D0C119432}"/>
              </a:ext>
            </a:extLst>
          </p:cNvPr>
          <p:cNvPicPr preferRelativeResize="0"/>
          <p:nvPr/>
        </p:nvPicPr>
        <p:blipFill rotWithShape="1">
          <a:blip r:embed="rId12">
            <a:alphaModFix/>
            <a:duotone>
              <a:prstClr val="black"/>
              <a:srgbClr val="DEFF9A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633272" y="4631432"/>
            <a:ext cx="166687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442DDBC7-985A-CB72-64A7-5207E83C3D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62" name="Google Shape;162;p16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33400" y="1718667"/>
            <a:ext cx="5419725" cy="125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6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33400" y="3112889"/>
            <a:ext cx="5419725" cy="12513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6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33400" y="4507110"/>
            <a:ext cx="5419725" cy="1251346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6"/>
          <p:cNvSpPr txBox="1"/>
          <p:nvPr/>
        </p:nvSpPr>
        <p:spPr>
          <a:xfrm>
            <a:off x="1004887" y="1956792"/>
            <a:ext cx="49456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HTML (</a:t>
            </a:r>
            <a:r>
              <a:rPr lang="en-US" sz="1500" b="1" i="0" u="none" strike="noStrike" cap="none" dirty="0" err="1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HyperText</a:t>
            </a: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Markup Language)</a:t>
            </a:r>
            <a:endParaRPr dirty="0"/>
          </a:p>
        </p:txBody>
      </p:sp>
      <p:sp>
        <p:nvSpPr>
          <p:cNvPr id="167" name="Google Shape;167;p16"/>
          <p:cNvSpPr txBox="1"/>
          <p:nvPr/>
        </p:nvSpPr>
        <p:spPr>
          <a:xfrm>
            <a:off x="771525" y="2318742"/>
            <a:ext cx="49434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Menyusun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konten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web.</a:t>
            </a:r>
            <a:endParaRPr dirty="0"/>
          </a:p>
        </p:txBody>
      </p:sp>
      <p:sp>
        <p:nvSpPr>
          <p:cNvPr id="168" name="Google Shape;168;p16"/>
          <p:cNvSpPr txBox="1"/>
          <p:nvPr/>
        </p:nvSpPr>
        <p:spPr>
          <a:xfrm>
            <a:off x="1004887" y="3351014"/>
            <a:ext cx="494561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CSS (Cascading Style Sheets)</a:t>
            </a:r>
            <a:endParaRPr dirty="0"/>
          </a:p>
        </p:txBody>
      </p:sp>
      <p:sp>
        <p:nvSpPr>
          <p:cNvPr id="169" name="Google Shape;169;p16"/>
          <p:cNvSpPr txBox="1"/>
          <p:nvPr/>
        </p:nvSpPr>
        <p:spPr>
          <a:xfrm>
            <a:off x="771525" y="3712964"/>
            <a:ext cx="49434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dirty="0" err="1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Mengatur</a:t>
            </a:r>
            <a:r>
              <a:rPr lang="en-US" sz="1050" dirty="0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 </a:t>
            </a:r>
            <a:r>
              <a:rPr lang="en-US" sz="1050" dirty="0" err="1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tampilan</a:t>
            </a:r>
            <a:r>
              <a:rPr lang="en-US" sz="1050" dirty="0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, </a:t>
            </a:r>
            <a:r>
              <a:rPr lang="en-US" sz="1050" dirty="0" err="1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warna</a:t>
            </a:r>
            <a:r>
              <a:rPr lang="en-US" sz="1050" dirty="0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, layout, dan </a:t>
            </a:r>
            <a:r>
              <a:rPr lang="en-US" sz="1050" dirty="0" err="1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estetika</a:t>
            </a:r>
            <a:r>
              <a:rPr lang="en-US" sz="1050" dirty="0">
                <a:solidFill>
                  <a:srgbClr val="9CA3AF"/>
                </a:solidFill>
                <a:latin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170" name="Google Shape;170;p16"/>
          <p:cNvSpPr txBox="1"/>
          <p:nvPr/>
        </p:nvSpPr>
        <p:spPr>
          <a:xfrm>
            <a:off x="1033462" y="4745235"/>
            <a:ext cx="49156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JavaScript (JS)</a:t>
            </a:r>
            <a:endParaRPr/>
          </a:p>
        </p:txBody>
      </p:sp>
      <p:sp>
        <p:nvSpPr>
          <p:cNvPr id="171" name="Google Shape;171;p16"/>
          <p:cNvSpPr txBox="1"/>
          <p:nvPr/>
        </p:nvSpPr>
        <p:spPr>
          <a:xfrm>
            <a:off x="771525" y="5107185"/>
            <a:ext cx="49434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Menambahkan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interaktivitas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73" name="Google Shape;173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1985367"/>
            <a:ext cx="13811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3379589"/>
            <a:ext cx="13811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4773810"/>
            <a:ext cx="16668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6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FRONT</a:t>
            </a:r>
            <a:r>
              <a:rPr lang="en-US" sz="24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</a:t>
            </a:r>
            <a:endParaRPr/>
          </a:p>
        </p:txBody>
      </p:sp>
      <p:sp>
        <p:nvSpPr>
          <p:cNvPr id="177" name="Google Shape;177;p16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0F3484E-A4BC-B86F-E839-DDC18843558B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8137983-4EEC-1F72-6F84-626DE18D036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35074DD-9C71-BF01-EB6D-BC9FE59388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92F6E30-A958-7DB9-9CAB-CEB4236BCB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9" name="Google Shape;212;p18">
            <a:extLst>
              <a:ext uri="{FF2B5EF4-FFF2-40B4-BE49-F238E27FC236}">
                <a16:creationId xmlns:a16="http://schemas.microsoft.com/office/drawing/2014/main" id="{5199F56D-E22A-A4F4-501F-7739E2CA559B}"/>
              </a:ext>
            </a:extLst>
          </p:cNvPr>
          <p:cNvSpPr txBox="1"/>
          <p:nvPr/>
        </p:nvSpPr>
        <p:spPr>
          <a:xfrm>
            <a:off x="533400" y="1011971"/>
            <a:ext cx="11125200" cy="6201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Frontend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bagian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website yang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terlihat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digunakan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oleh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pengunjung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Dasarnya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terdiri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tampilan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dan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interaksi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C6F3F20-6D79-BF12-52E5-A6FD9B1ABDBD}"/>
              </a:ext>
            </a:extLst>
          </p:cNvPr>
          <p:cNvSpPr txBox="1"/>
          <p:nvPr/>
        </p:nvSpPr>
        <p:spPr>
          <a:xfrm>
            <a:off x="6238875" y="4878585"/>
            <a:ext cx="5419725" cy="201168"/>
          </a:xfrm>
          <a:prstGeom prst="rect">
            <a:avLst/>
          </a:prstGeom>
          <a:noFill/>
        </p:spPr>
        <p:txBody>
          <a:bodyPr wrap="square" lIns="36576" tIns="18288" rIns="36576" bIns="18288" anchor="t">
            <a:spAutoFit/>
          </a:bodyPr>
          <a:lstStyle/>
          <a:p>
            <a:pPr algn="ctr">
              <a:spcAft>
                <a:spcPts val="200"/>
              </a:spcAft>
              <a:defRPr sz="850" b="1">
                <a:solidFill>
                  <a:srgbClr val="00D5E0"/>
                </a:solidFill>
                <a:latin typeface="Aptos"/>
              </a:defRPr>
            </a:pPr>
            <a:r>
              <a:rPr sz="720" b="1">
                <a:solidFill>
                  <a:srgbClr val="00D6E8"/>
                </a:solidFill>
                <a:latin typeface="Aptos"/>
              </a:rPr>
              <a:t>Contoh kode: HTML membuat struktur, CSS mengatur tampilan, JS memberi interaksi.</a:t>
            </a:r>
          </a:p>
        </p:txBody>
      </p:sp>
      <p:sp>
        <p:nvSpPr>
          <p:cNvPr id="17" name="Rounded Rectangle 180">
            <a:extLst>
              <a:ext uri="{FF2B5EF4-FFF2-40B4-BE49-F238E27FC236}">
                <a16:creationId xmlns:a16="http://schemas.microsoft.com/office/drawing/2014/main" id="{7D4BE3B9-868D-9C50-D178-91E9F30364AE}"/>
              </a:ext>
            </a:extLst>
          </p:cNvPr>
          <p:cNvSpPr/>
          <p:nvPr/>
        </p:nvSpPr>
        <p:spPr>
          <a:xfrm>
            <a:off x="6419088" y="2048256"/>
            <a:ext cx="5047488" cy="1078992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3CB3713-C308-A12A-C2C1-2A6283CF1DB2}"/>
              </a:ext>
            </a:extLst>
          </p:cNvPr>
          <p:cNvSpPr/>
          <p:nvPr/>
        </p:nvSpPr>
        <p:spPr>
          <a:xfrm>
            <a:off x="6437375" y="2066544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4B49A75-668B-E08B-2EC1-0FB36583F5CF}"/>
              </a:ext>
            </a:extLst>
          </p:cNvPr>
          <p:cNvSpPr/>
          <p:nvPr/>
        </p:nvSpPr>
        <p:spPr>
          <a:xfrm>
            <a:off x="6565392" y="2162556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70F516C-5F20-135A-F702-B0377CD7DB1E}"/>
              </a:ext>
            </a:extLst>
          </p:cNvPr>
          <p:cNvSpPr/>
          <p:nvPr/>
        </p:nvSpPr>
        <p:spPr>
          <a:xfrm>
            <a:off x="6711696" y="2162556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781448FA-662B-EC09-F9DF-D663E795109F}"/>
              </a:ext>
            </a:extLst>
          </p:cNvPr>
          <p:cNvSpPr/>
          <p:nvPr/>
        </p:nvSpPr>
        <p:spPr>
          <a:xfrm>
            <a:off x="6858000" y="2162556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3C1B8A-083D-69A6-1E99-E97F41118E77}"/>
              </a:ext>
            </a:extLst>
          </p:cNvPr>
          <p:cNvSpPr txBox="1"/>
          <p:nvPr/>
        </p:nvSpPr>
        <p:spPr>
          <a:xfrm>
            <a:off x="6995595" y="2136213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>
                <a:solidFill>
                  <a:srgbClr val="EEF6F8"/>
                </a:solidFill>
                <a:latin typeface="Aptos"/>
              </a:rPr>
              <a:t>index.html</a:t>
            </a:r>
          </a:p>
        </p:txBody>
      </p:sp>
      <p:sp>
        <p:nvSpPr>
          <p:cNvPr id="29" name="Rounded Rectangle 186">
            <a:extLst>
              <a:ext uri="{FF2B5EF4-FFF2-40B4-BE49-F238E27FC236}">
                <a16:creationId xmlns:a16="http://schemas.microsoft.com/office/drawing/2014/main" id="{D0707AAC-6F35-BC07-7C8F-C309E2C70083}"/>
              </a:ext>
            </a:extLst>
          </p:cNvPr>
          <p:cNvSpPr/>
          <p:nvPr/>
        </p:nvSpPr>
        <p:spPr>
          <a:xfrm>
            <a:off x="10716767" y="2103120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HTML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4A7CB34-B959-5BF5-78C0-21EA23D5E4AE}"/>
              </a:ext>
            </a:extLst>
          </p:cNvPr>
          <p:cNvSpPr txBox="1"/>
          <p:nvPr/>
        </p:nvSpPr>
        <p:spPr>
          <a:xfrm>
            <a:off x="6565392" y="2468880"/>
            <a:ext cx="292608" cy="5669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60">
                <a:solidFill>
                  <a:srgbClr val="91A4AE"/>
                </a:solidFill>
                <a:latin typeface="Consolas"/>
              </a:rPr>
              <a:t> 1
 2
 3
 4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E1F5EFC-5958-6563-F893-A1789942E591}"/>
              </a:ext>
            </a:extLst>
          </p:cNvPr>
          <p:cNvSpPr txBox="1"/>
          <p:nvPr/>
        </p:nvSpPr>
        <p:spPr>
          <a:xfrm>
            <a:off x="6894575" y="2468880"/>
            <a:ext cx="4407407" cy="5760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60">
                <a:solidFill>
                  <a:srgbClr val="EEF6F8"/>
                </a:solidFill>
                <a:latin typeface="Consolas"/>
              </a:rPr>
              <a:t>&lt;main class="card"&gt;
  &lt;h1&gt;Belajar Web&lt;/h1&gt;
  &lt;button id="btn"&gt;Mulai&lt;/button&gt;
&lt;/main&gt;</a:t>
            </a:r>
          </a:p>
        </p:txBody>
      </p:sp>
      <p:sp>
        <p:nvSpPr>
          <p:cNvPr id="35" name="Rounded Rectangle 189">
            <a:extLst>
              <a:ext uri="{FF2B5EF4-FFF2-40B4-BE49-F238E27FC236}">
                <a16:creationId xmlns:a16="http://schemas.microsoft.com/office/drawing/2014/main" id="{5F31AC0D-42E0-8C33-47A5-84C292F1D166}"/>
              </a:ext>
            </a:extLst>
          </p:cNvPr>
          <p:cNvSpPr/>
          <p:nvPr/>
        </p:nvSpPr>
        <p:spPr>
          <a:xfrm>
            <a:off x="6419088" y="3246120"/>
            <a:ext cx="5047488" cy="1078992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2470799B-945D-305F-E722-35941F37AE9C}"/>
              </a:ext>
            </a:extLst>
          </p:cNvPr>
          <p:cNvSpPr/>
          <p:nvPr/>
        </p:nvSpPr>
        <p:spPr>
          <a:xfrm>
            <a:off x="6437375" y="3264408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CA41283C-E116-B931-D53C-37F36F0CDBA3}"/>
              </a:ext>
            </a:extLst>
          </p:cNvPr>
          <p:cNvSpPr/>
          <p:nvPr/>
        </p:nvSpPr>
        <p:spPr>
          <a:xfrm>
            <a:off x="6565392" y="3360420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2DE55F08-543C-D787-337F-B031DF054BE4}"/>
              </a:ext>
            </a:extLst>
          </p:cNvPr>
          <p:cNvSpPr/>
          <p:nvPr/>
        </p:nvSpPr>
        <p:spPr>
          <a:xfrm>
            <a:off x="6711696" y="3360420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D072293F-7056-3A88-8D53-992EAC36C9C5}"/>
              </a:ext>
            </a:extLst>
          </p:cNvPr>
          <p:cNvSpPr/>
          <p:nvPr/>
        </p:nvSpPr>
        <p:spPr>
          <a:xfrm>
            <a:off x="6858000" y="3360420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5A095C1-99F2-F231-189C-853BB5534CAF}"/>
              </a:ext>
            </a:extLst>
          </p:cNvPr>
          <p:cNvSpPr txBox="1"/>
          <p:nvPr/>
        </p:nvSpPr>
        <p:spPr>
          <a:xfrm>
            <a:off x="6995595" y="3334077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>
                <a:solidFill>
                  <a:srgbClr val="EEF6F8"/>
                </a:solidFill>
                <a:latin typeface="Aptos"/>
              </a:rPr>
              <a:t>style.css</a:t>
            </a:r>
          </a:p>
        </p:txBody>
      </p:sp>
      <p:sp>
        <p:nvSpPr>
          <p:cNvPr id="47" name="Rounded Rectangle 195">
            <a:extLst>
              <a:ext uri="{FF2B5EF4-FFF2-40B4-BE49-F238E27FC236}">
                <a16:creationId xmlns:a16="http://schemas.microsoft.com/office/drawing/2014/main" id="{34FFCB7E-BC67-8809-264D-4CE12147FC60}"/>
              </a:ext>
            </a:extLst>
          </p:cNvPr>
          <p:cNvSpPr/>
          <p:nvPr/>
        </p:nvSpPr>
        <p:spPr>
          <a:xfrm>
            <a:off x="10716767" y="3300984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CSS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DA9EADF5-AB47-5AFB-D7D1-B745CC65BA1B}"/>
              </a:ext>
            </a:extLst>
          </p:cNvPr>
          <p:cNvSpPr txBox="1"/>
          <p:nvPr/>
        </p:nvSpPr>
        <p:spPr>
          <a:xfrm>
            <a:off x="6565392" y="3666744"/>
            <a:ext cx="292608" cy="56692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0">
                <a:solidFill>
                  <a:srgbClr val="91A4AE"/>
                </a:solidFill>
                <a:latin typeface="Consolas"/>
              </a:rPr>
              <a:t> 1
 2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F36D1A5A-2541-8747-50AC-4F5D40513BA3}"/>
              </a:ext>
            </a:extLst>
          </p:cNvPr>
          <p:cNvSpPr txBox="1"/>
          <p:nvPr/>
        </p:nvSpPr>
        <p:spPr>
          <a:xfrm>
            <a:off x="6894575" y="3666744"/>
            <a:ext cx="4407407" cy="576071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0">
                <a:solidFill>
                  <a:srgbClr val="EEF6F8"/>
                </a:solidFill>
                <a:latin typeface="Consolas"/>
              </a:rPr>
              <a:t>.card { padding: 24px; border-radius: 16px; }
button { background: #00d6e8; color: #fff; }</a:t>
            </a:r>
          </a:p>
        </p:txBody>
      </p:sp>
      <p:sp>
        <p:nvSpPr>
          <p:cNvPr id="53" name="Rounded Rectangle 198">
            <a:extLst>
              <a:ext uri="{FF2B5EF4-FFF2-40B4-BE49-F238E27FC236}">
                <a16:creationId xmlns:a16="http://schemas.microsoft.com/office/drawing/2014/main" id="{A894E3D1-D842-29DC-EA8A-4771E7284725}"/>
              </a:ext>
            </a:extLst>
          </p:cNvPr>
          <p:cNvSpPr/>
          <p:nvPr/>
        </p:nvSpPr>
        <p:spPr>
          <a:xfrm>
            <a:off x="6419088" y="4443984"/>
            <a:ext cx="5047488" cy="1060704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3AC02280-755F-ACE2-560B-0D2193A205C0}"/>
              </a:ext>
            </a:extLst>
          </p:cNvPr>
          <p:cNvSpPr/>
          <p:nvPr/>
        </p:nvSpPr>
        <p:spPr>
          <a:xfrm>
            <a:off x="6437375" y="4462272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2AA48970-3833-EA11-338E-F67AED8C1C4B}"/>
              </a:ext>
            </a:extLst>
          </p:cNvPr>
          <p:cNvSpPr/>
          <p:nvPr/>
        </p:nvSpPr>
        <p:spPr>
          <a:xfrm>
            <a:off x="6565392" y="4558284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751E8338-3954-D04D-7FDF-FE1AE7F6618F}"/>
              </a:ext>
            </a:extLst>
          </p:cNvPr>
          <p:cNvSpPr/>
          <p:nvPr/>
        </p:nvSpPr>
        <p:spPr>
          <a:xfrm>
            <a:off x="6711696" y="4558284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059D2BC6-104D-4160-B6AD-2DF8180EF735}"/>
              </a:ext>
            </a:extLst>
          </p:cNvPr>
          <p:cNvSpPr/>
          <p:nvPr/>
        </p:nvSpPr>
        <p:spPr>
          <a:xfrm>
            <a:off x="6858000" y="4558284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ADDF571A-D199-E57D-2430-CD68B160026B}"/>
              </a:ext>
            </a:extLst>
          </p:cNvPr>
          <p:cNvSpPr txBox="1"/>
          <p:nvPr/>
        </p:nvSpPr>
        <p:spPr>
          <a:xfrm>
            <a:off x="6995595" y="4531941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>
                <a:solidFill>
                  <a:srgbClr val="EEF6F8"/>
                </a:solidFill>
                <a:latin typeface="Aptos"/>
              </a:rPr>
              <a:t>script.js</a:t>
            </a:r>
          </a:p>
        </p:txBody>
      </p:sp>
      <p:sp>
        <p:nvSpPr>
          <p:cNvPr id="129" name="Rounded Rectangle 204">
            <a:extLst>
              <a:ext uri="{FF2B5EF4-FFF2-40B4-BE49-F238E27FC236}">
                <a16:creationId xmlns:a16="http://schemas.microsoft.com/office/drawing/2014/main" id="{91FB4FD4-8E34-9EFB-0128-AC66BC78BD2F}"/>
              </a:ext>
            </a:extLst>
          </p:cNvPr>
          <p:cNvSpPr/>
          <p:nvPr/>
        </p:nvSpPr>
        <p:spPr>
          <a:xfrm>
            <a:off x="10716767" y="4498848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JS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52410214-21BE-7DB0-5F96-B61B3C4B6898}"/>
              </a:ext>
            </a:extLst>
          </p:cNvPr>
          <p:cNvSpPr txBox="1"/>
          <p:nvPr/>
        </p:nvSpPr>
        <p:spPr>
          <a:xfrm>
            <a:off x="6565392" y="4864608"/>
            <a:ext cx="292608" cy="54863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3A289DF9-8A08-8C4E-468F-6F41E911EF82}"/>
              </a:ext>
            </a:extLst>
          </p:cNvPr>
          <p:cNvSpPr txBox="1"/>
          <p:nvPr/>
        </p:nvSpPr>
        <p:spPr>
          <a:xfrm>
            <a:off x="6894575" y="4864608"/>
            <a:ext cx="4407407" cy="55778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40">
                <a:solidFill>
                  <a:srgbClr val="EEF6F8"/>
                </a:solidFill>
                <a:latin typeface="Consolas"/>
              </a:rPr>
              <a:t>document.querySelector('#btn').onclick = () =&gt; {
  alert('Halaman siap digunakan');
};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8176A1D4-9FD5-ADA4-F29A-7ECC4E1CF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8" name="Google Shape;208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99542" y="2564442"/>
            <a:ext cx="1552575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18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3530837" y="3104309"/>
            <a:ext cx="5853012" cy="157236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18"/>
          <p:cNvSpPr txBox="1"/>
          <p:nvPr/>
        </p:nvSpPr>
        <p:spPr>
          <a:xfrm>
            <a:off x="533400" y="1118403"/>
            <a:ext cx="111252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Kegunaan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semantik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antara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lain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mesin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pencari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lebih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mudah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memahami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struktur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kode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lebih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rapi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mudah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dipelihara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dan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sesuai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HTML modern.</a:t>
            </a:r>
            <a:endParaRPr dirty="0"/>
          </a:p>
        </p:txBody>
      </p:sp>
      <p:sp>
        <p:nvSpPr>
          <p:cNvPr id="213" name="Google Shape;213;p18"/>
          <p:cNvSpPr txBox="1"/>
          <p:nvPr/>
        </p:nvSpPr>
        <p:spPr>
          <a:xfrm>
            <a:off x="533400" y="5051167"/>
            <a:ext cx="5690711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762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00F3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Apa itu SEO?</a:t>
            </a:r>
            <a:endParaRPr/>
          </a:p>
        </p:txBody>
      </p:sp>
      <p:pic>
        <p:nvPicPr>
          <p:cNvPr id="217" name="Google Shape;21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33400" y="5070217"/>
            <a:ext cx="147637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18"/>
          <p:cNvSpPr txBox="1"/>
          <p:nvPr/>
        </p:nvSpPr>
        <p:spPr>
          <a:xfrm>
            <a:off x="4131237" y="3304664"/>
            <a:ext cx="4865608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Tag </a:t>
            </a:r>
            <a:r>
              <a:rPr lang="en-US" sz="1500" b="1" i="0" u="none" strike="noStrike" cap="none" dirty="0" err="1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Semantik</a:t>
            </a: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Umum</a:t>
            </a:r>
            <a:endParaRPr dirty="0"/>
          </a:p>
        </p:txBody>
      </p:sp>
      <p:pic>
        <p:nvPicPr>
          <p:cNvPr id="219" name="Google Shape;219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776325" y="3315721"/>
            <a:ext cx="21431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8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HTML SEMANTIK &amp; </a:t>
            </a:r>
            <a:r>
              <a:rPr lang="en-US" sz="24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SEO</a:t>
            </a: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3521C0A-DAD4-0EB5-D35E-625193D4E2B6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2B60788-6361-2187-6306-839886A85A8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E8F7D266-9C8E-6206-8D07-825B78682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6F6FF61A-B3BE-6016-4116-C3DBD4CA5CEA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223" name="Text 6">
            <a:extLst>
              <a:ext uri="{FF2B5EF4-FFF2-40B4-BE49-F238E27FC236}">
                <a16:creationId xmlns:a16="http://schemas.microsoft.com/office/drawing/2014/main" id="{C628F99A-A267-0F9C-A8C2-B72BE209ECED}"/>
              </a:ext>
            </a:extLst>
          </p:cNvPr>
          <p:cNvSpPr/>
          <p:nvPr/>
        </p:nvSpPr>
        <p:spPr>
          <a:xfrm>
            <a:off x="3776325" y="3656055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lvl="1"/>
            <a:r>
              <a:rPr lang="en-US" sz="1550" dirty="0">
                <a:solidFill>
                  <a:srgbClr val="DEF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&lt;header&gt;</a:t>
            </a:r>
            <a:endParaRPr lang="en-US" sz="1550" dirty="0">
              <a:solidFill>
                <a:srgbClr val="DEFF9A"/>
              </a:solidFill>
            </a:endParaRPr>
          </a:p>
        </p:txBody>
      </p:sp>
      <p:sp>
        <p:nvSpPr>
          <p:cNvPr id="225" name="Text 7">
            <a:extLst>
              <a:ext uri="{FF2B5EF4-FFF2-40B4-BE49-F238E27FC236}">
                <a16:creationId xmlns:a16="http://schemas.microsoft.com/office/drawing/2014/main" id="{F73950A4-E5D1-AD12-CE54-092CA2C8253E}"/>
              </a:ext>
            </a:extLst>
          </p:cNvPr>
          <p:cNvSpPr/>
          <p:nvPr/>
        </p:nvSpPr>
        <p:spPr>
          <a:xfrm>
            <a:off x="4913152" y="3683487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identitas halaman</a:t>
            </a:r>
            <a:endParaRPr lang="en-US" sz="1350" dirty="0"/>
          </a:p>
        </p:txBody>
      </p:sp>
      <p:sp>
        <p:nvSpPr>
          <p:cNvPr id="229" name="Text 9">
            <a:extLst>
              <a:ext uri="{FF2B5EF4-FFF2-40B4-BE49-F238E27FC236}">
                <a16:creationId xmlns:a16="http://schemas.microsoft.com/office/drawing/2014/main" id="{5293B07C-5E9D-5232-D3E9-02ADFE72BD8E}"/>
              </a:ext>
            </a:extLst>
          </p:cNvPr>
          <p:cNvSpPr/>
          <p:nvPr/>
        </p:nvSpPr>
        <p:spPr>
          <a:xfrm>
            <a:off x="3814561" y="398045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EF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&lt;nav&gt;</a:t>
            </a:r>
            <a:endParaRPr lang="en-US" sz="1550" dirty="0">
              <a:solidFill>
                <a:srgbClr val="DEFF9A"/>
              </a:solidFill>
            </a:endParaRPr>
          </a:p>
        </p:txBody>
      </p:sp>
      <p:sp>
        <p:nvSpPr>
          <p:cNvPr id="231" name="Text 10">
            <a:extLst>
              <a:ext uri="{FF2B5EF4-FFF2-40B4-BE49-F238E27FC236}">
                <a16:creationId xmlns:a16="http://schemas.microsoft.com/office/drawing/2014/main" id="{874EC88F-0DDC-09F8-9F6C-2C254359A288}"/>
              </a:ext>
            </a:extLst>
          </p:cNvPr>
          <p:cNvSpPr/>
          <p:nvPr/>
        </p:nvSpPr>
        <p:spPr>
          <a:xfrm>
            <a:off x="4913152" y="4006035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navigasi</a:t>
            </a:r>
            <a:endParaRPr lang="en-US" sz="1350" dirty="0"/>
          </a:p>
        </p:txBody>
      </p:sp>
      <p:sp>
        <p:nvSpPr>
          <p:cNvPr id="235" name="Text 12">
            <a:extLst>
              <a:ext uri="{FF2B5EF4-FFF2-40B4-BE49-F238E27FC236}">
                <a16:creationId xmlns:a16="http://schemas.microsoft.com/office/drawing/2014/main" id="{C38CB419-3976-3259-CC8F-AEF62F38853E}"/>
              </a:ext>
            </a:extLst>
          </p:cNvPr>
          <p:cNvSpPr/>
          <p:nvPr/>
        </p:nvSpPr>
        <p:spPr>
          <a:xfrm>
            <a:off x="3776325" y="4291120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EF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&lt;main&gt;</a:t>
            </a:r>
            <a:endParaRPr lang="en-US" sz="1550" dirty="0">
              <a:solidFill>
                <a:srgbClr val="DEFF9A"/>
              </a:solidFill>
            </a:endParaRPr>
          </a:p>
        </p:txBody>
      </p:sp>
      <p:sp>
        <p:nvSpPr>
          <p:cNvPr id="237" name="Text 13">
            <a:extLst>
              <a:ext uri="{FF2B5EF4-FFF2-40B4-BE49-F238E27FC236}">
                <a16:creationId xmlns:a16="http://schemas.microsoft.com/office/drawing/2014/main" id="{C87F4EAE-5645-F541-5FE4-9E6F06F57938}"/>
              </a:ext>
            </a:extLst>
          </p:cNvPr>
          <p:cNvSpPr/>
          <p:nvPr/>
        </p:nvSpPr>
        <p:spPr>
          <a:xfrm>
            <a:off x="4913152" y="4316931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konten utama</a:t>
            </a:r>
            <a:endParaRPr lang="en-US" sz="1350" dirty="0"/>
          </a:p>
        </p:txBody>
      </p:sp>
      <p:sp>
        <p:nvSpPr>
          <p:cNvPr id="241" name="Text 15">
            <a:extLst>
              <a:ext uri="{FF2B5EF4-FFF2-40B4-BE49-F238E27FC236}">
                <a16:creationId xmlns:a16="http://schemas.microsoft.com/office/drawing/2014/main" id="{5DE96386-A2F2-3A5A-2714-8C10211E2CBC}"/>
              </a:ext>
            </a:extLst>
          </p:cNvPr>
          <p:cNvSpPr/>
          <p:nvPr/>
        </p:nvSpPr>
        <p:spPr>
          <a:xfrm>
            <a:off x="6610149" y="3653224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EF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&lt;article&gt;</a:t>
            </a:r>
            <a:endParaRPr lang="en-US" sz="1550" dirty="0">
              <a:solidFill>
                <a:srgbClr val="DEFF9A"/>
              </a:solidFill>
            </a:endParaRPr>
          </a:p>
        </p:txBody>
      </p:sp>
      <p:sp>
        <p:nvSpPr>
          <p:cNvPr id="243" name="Text 16">
            <a:extLst>
              <a:ext uri="{FF2B5EF4-FFF2-40B4-BE49-F238E27FC236}">
                <a16:creationId xmlns:a16="http://schemas.microsoft.com/office/drawing/2014/main" id="{340A7C84-EA69-D81E-0C2C-6F74CA5D9EE1}"/>
              </a:ext>
            </a:extLst>
          </p:cNvPr>
          <p:cNvSpPr/>
          <p:nvPr/>
        </p:nvSpPr>
        <p:spPr>
          <a:xfrm>
            <a:off x="7890309" y="369519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artikel mandiri</a:t>
            </a:r>
            <a:endParaRPr lang="en-US" sz="1350" dirty="0"/>
          </a:p>
        </p:txBody>
      </p:sp>
      <p:sp>
        <p:nvSpPr>
          <p:cNvPr id="247" name="Text 18">
            <a:extLst>
              <a:ext uri="{FF2B5EF4-FFF2-40B4-BE49-F238E27FC236}">
                <a16:creationId xmlns:a16="http://schemas.microsoft.com/office/drawing/2014/main" id="{5526C467-20B1-0FB1-8BE6-C02E3616868D}"/>
              </a:ext>
            </a:extLst>
          </p:cNvPr>
          <p:cNvSpPr/>
          <p:nvPr/>
        </p:nvSpPr>
        <p:spPr>
          <a:xfrm>
            <a:off x="6610149" y="3967935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EF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&lt;section&gt;</a:t>
            </a:r>
            <a:endParaRPr lang="en-US" sz="1550" dirty="0">
              <a:solidFill>
                <a:srgbClr val="DEFF9A"/>
              </a:solidFill>
            </a:endParaRPr>
          </a:p>
        </p:txBody>
      </p:sp>
      <p:sp>
        <p:nvSpPr>
          <p:cNvPr id="249" name="Text 19">
            <a:extLst>
              <a:ext uri="{FF2B5EF4-FFF2-40B4-BE49-F238E27FC236}">
                <a16:creationId xmlns:a16="http://schemas.microsoft.com/office/drawing/2014/main" id="{44DE67A3-EC94-4E63-DB4E-768F1EB3BB69}"/>
              </a:ext>
            </a:extLst>
          </p:cNvPr>
          <p:cNvSpPr/>
          <p:nvPr/>
        </p:nvSpPr>
        <p:spPr>
          <a:xfrm>
            <a:off x="7890309" y="39641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bagian konten</a:t>
            </a:r>
            <a:endParaRPr lang="en-US" sz="1350" dirty="0"/>
          </a:p>
        </p:txBody>
      </p:sp>
      <p:sp>
        <p:nvSpPr>
          <p:cNvPr id="251" name="Text 21">
            <a:extLst>
              <a:ext uri="{FF2B5EF4-FFF2-40B4-BE49-F238E27FC236}">
                <a16:creationId xmlns:a16="http://schemas.microsoft.com/office/drawing/2014/main" id="{9873DAD4-530D-7E10-A0D1-79AB09E3A852}"/>
              </a:ext>
            </a:extLst>
          </p:cNvPr>
          <p:cNvSpPr/>
          <p:nvPr/>
        </p:nvSpPr>
        <p:spPr>
          <a:xfrm>
            <a:off x="6610149" y="426391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EFF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&lt;footer&gt;</a:t>
            </a:r>
            <a:endParaRPr lang="en-US" sz="1550" dirty="0">
              <a:solidFill>
                <a:srgbClr val="DEFF9A"/>
              </a:solidFill>
            </a:endParaRPr>
          </a:p>
        </p:txBody>
      </p:sp>
      <p:sp>
        <p:nvSpPr>
          <p:cNvPr id="253" name="Text 22">
            <a:extLst>
              <a:ext uri="{FF2B5EF4-FFF2-40B4-BE49-F238E27FC236}">
                <a16:creationId xmlns:a16="http://schemas.microsoft.com/office/drawing/2014/main" id="{BFCA08D8-627F-9ED6-E240-BABDBD4700F3}"/>
              </a:ext>
            </a:extLst>
          </p:cNvPr>
          <p:cNvSpPr/>
          <p:nvPr/>
        </p:nvSpPr>
        <p:spPr>
          <a:xfrm>
            <a:off x="7884297" y="4291294"/>
            <a:ext cx="13424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0E0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penutup halaman</a:t>
            </a:r>
            <a:endParaRPr lang="en-US" sz="1350" dirty="0"/>
          </a:p>
        </p:txBody>
      </p:sp>
      <p:sp>
        <p:nvSpPr>
          <p:cNvPr id="259" name="Google Shape;214;p18">
            <a:extLst>
              <a:ext uri="{FF2B5EF4-FFF2-40B4-BE49-F238E27FC236}">
                <a16:creationId xmlns:a16="http://schemas.microsoft.com/office/drawing/2014/main" id="{8C62E3AB-8CEA-DC90-0307-78C393443416}"/>
              </a:ext>
            </a:extLst>
          </p:cNvPr>
          <p:cNvSpPr txBox="1"/>
          <p:nvPr/>
        </p:nvSpPr>
        <p:spPr>
          <a:xfrm>
            <a:off x="533400" y="5327392"/>
            <a:ext cx="5419725" cy="619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6576" tIns="18288" rIns="36576" bIns="18288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200"/>
              </a:spcAft>
              <a:buNone/>
              <a:defRPr sz="980" b="0">
                <a:solidFill>
                  <a:srgbClr val="CDD4D6"/>
                </a:solidFill>
                <a:latin typeface="Aptos"/>
              </a:defRPr>
            </a:pPr>
            <a:r>
              <a:rPr dirty="0"/>
              <a:t>SEO </a:t>
            </a:r>
            <a:r>
              <a:rPr dirty="0" err="1"/>
              <a:t>adalah</a:t>
            </a:r>
            <a:r>
              <a:rPr dirty="0"/>
              <a:t> </a:t>
            </a:r>
            <a:r>
              <a:rPr dirty="0" err="1"/>
              <a:t>upaya</a:t>
            </a:r>
            <a:r>
              <a:rPr dirty="0"/>
              <a:t> agar </a:t>
            </a:r>
            <a:r>
              <a:rPr dirty="0" err="1"/>
              <a:t>halaman</a:t>
            </a:r>
            <a:r>
              <a:rPr dirty="0"/>
              <a:t> </a:t>
            </a:r>
            <a:r>
              <a:rPr dirty="0" err="1"/>
              <a:t>lebih</a:t>
            </a:r>
            <a:r>
              <a:rPr dirty="0"/>
              <a:t> </a:t>
            </a:r>
            <a:r>
              <a:rPr dirty="0" err="1"/>
              <a:t>mudah</a:t>
            </a:r>
            <a:r>
              <a:rPr dirty="0"/>
              <a:t> </a:t>
            </a:r>
            <a:r>
              <a:rPr dirty="0" err="1"/>
              <a:t>ditemukan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</a:t>
            </a:r>
            <a:r>
              <a:rPr dirty="0" err="1"/>
              <a:t>pencari</a:t>
            </a:r>
            <a:r>
              <a:rPr dirty="0"/>
              <a:t>. Tag </a:t>
            </a:r>
            <a:r>
              <a:rPr dirty="0" err="1"/>
              <a:t>semantik</a:t>
            </a:r>
            <a:r>
              <a:rPr dirty="0"/>
              <a:t> </a:t>
            </a:r>
            <a:r>
              <a:rPr dirty="0" err="1"/>
              <a:t>membantu</a:t>
            </a:r>
            <a:r>
              <a:rPr dirty="0"/>
              <a:t> </a:t>
            </a:r>
            <a:r>
              <a:rPr dirty="0" err="1"/>
              <a:t>mesin</a:t>
            </a:r>
            <a:r>
              <a:rPr dirty="0"/>
              <a:t> </a:t>
            </a:r>
            <a:r>
              <a:rPr dirty="0" err="1"/>
              <a:t>pencari</a:t>
            </a:r>
            <a:r>
              <a:rPr dirty="0"/>
              <a:t> </a:t>
            </a:r>
            <a:r>
              <a:rPr dirty="0" err="1"/>
              <a:t>memahami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</a:t>
            </a:r>
            <a:r>
              <a:rPr dirty="0" err="1"/>
              <a:t>penting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, </a:t>
            </a:r>
            <a:r>
              <a:rPr dirty="0" err="1"/>
              <a:t>tetapi</a:t>
            </a:r>
            <a:r>
              <a:rPr dirty="0"/>
              <a:t> </a:t>
            </a:r>
            <a:r>
              <a:rPr dirty="0" err="1"/>
              <a:t>hasil</a:t>
            </a:r>
            <a:r>
              <a:rPr dirty="0"/>
              <a:t> SEO juga </a:t>
            </a:r>
            <a:r>
              <a:rPr dirty="0" err="1"/>
              <a:t>dipengaruhi</a:t>
            </a:r>
            <a:r>
              <a:rPr dirty="0"/>
              <a:t> </a:t>
            </a:r>
            <a:r>
              <a:rPr dirty="0" err="1"/>
              <a:t>kualitas</a:t>
            </a:r>
            <a:r>
              <a:rPr dirty="0"/>
              <a:t> </a:t>
            </a:r>
            <a:r>
              <a:rPr dirty="0" err="1"/>
              <a:t>konten</a:t>
            </a:r>
            <a:r>
              <a:rPr dirty="0"/>
              <a:t>, </a:t>
            </a:r>
            <a:r>
              <a:rPr dirty="0" err="1"/>
              <a:t>kecepatan</a:t>
            </a:r>
            <a:r>
              <a:rPr dirty="0"/>
              <a:t>, dan </a:t>
            </a:r>
            <a:r>
              <a:rPr dirty="0" err="1"/>
              <a:t>pengalaman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C1AA14B-86D5-99D2-377F-E94B03D7E7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7" name="Google Shape;227;p19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98171" y="2390179"/>
            <a:ext cx="5419725" cy="50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19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98171" y="2987277"/>
            <a:ext cx="5419725" cy="501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19" descr="image.png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98171" y="3584376"/>
            <a:ext cx="5419725" cy="45716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19"/>
          <p:cNvSpPr txBox="1"/>
          <p:nvPr/>
        </p:nvSpPr>
        <p:spPr>
          <a:xfrm>
            <a:off x="598171" y="2025054"/>
            <a:ext cx="569071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1430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3 Cara </a:t>
            </a:r>
            <a:r>
              <a:rPr lang="en-US" sz="1350" b="1" i="0" u="none" strike="noStrike" cap="none" dirty="0" err="1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Pemanggilan</a:t>
            </a:r>
            <a:r>
              <a:rPr lang="en-US" sz="135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CSS</a:t>
            </a:r>
            <a:endParaRPr dirty="0"/>
          </a:p>
        </p:txBody>
      </p:sp>
      <p:sp>
        <p:nvSpPr>
          <p:cNvPr id="231" name="Google Shape;231;p19"/>
          <p:cNvSpPr txBox="1"/>
          <p:nvPr/>
        </p:nvSpPr>
        <p:spPr>
          <a:xfrm>
            <a:off x="6259592" y="2056804"/>
            <a:ext cx="5690711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6675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 dirty="0">
                <a:solidFill>
                  <a:srgbClr val="00F3FF"/>
                </a:solidFill>
                <a:latin typeface="Space Grotesk"/>
                <a:ea typeface="Space Grotesk"/>
                <a:cs typeface="Space Grotesk"/>
                <a:sym typeface="Space Grotesk"/>
              </a:rPr>
              <a:t> Macam-Macam Selector CSS</a:t>
            </a:r>
            <a:endParaRPr dirty="0"/>
          </a:p>
        </p:txBody>
      </p:sp>
      <p:pic>
        <p:nvPicPr>
          <p:cNvPr id="232" name="Google Shape;23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98171" y="2025054"/>
            <a:ext cx="214312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752745" y="2503388"/>
            <a:ext cx="5133975" cy="2160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1. Inline Style: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Ditulis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langsung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tag HTML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menggunakan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atribut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style="".</a:t>
            </a:r>
            <a:endParaRPr dirty="0"/>
          </a:p>
        </p:txBody>
      </p:sp>
      <p:sp>
        <p:nvSpPr>
          <p:cNvPr id="234" name="Google Shape;234;p19"/>
          <p:cNvSpPr txBox="1"/>
          <p:nvPr/>
        </p:nvSpPr>
        <p:spPr>
          <a:xfrm>
            <a:off x="752745" y="3086198"/>
            <a:ext cx="51339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2. Internal CSS: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Ditulis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tag &lt;style&gt; pada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bagian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HTML.</a:t>
            </a:r>
            <a:endParaRPr dirty="0"/>
          </a:p>
        </p:txBody>
      </p:sp>
      <p:sp>
        <p:nvSpPr>
          <p:cNvPr id="235" name="Google Shape;235;p19"/>
          <p:cNvSpPr txBox="1"/>
          <p:nvPr/>
        </p:nvSpPr>
        <p:spPr>
          <a:xfrm>
            <a:off x="741046" y="3695501"/>
            <a:ext cx="5133975" cy="250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3. External CSS (</a:t>
            </a:r>
            <a:r>
              <a:rPr lang="en-US" sz="1050" b="1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Terbaik</a:t>
            </a:r>
            <a:r>
              <a:rPr lang="en-US" sz="1050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):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Ditulis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file </a:t>
            </a:r>
            <a:r>
              <a:rPr lang="en-US" sz="105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terpisah</a:t>
            </a:r>
            <a:r>
              <a:rPr lang="en-US" sz="105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236" name="Google Shape;23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259592" y="2085379"/>
            <a:ext cx="166687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9"/>
          <p:cNvSpPr txBox="1"/>
          <p:nvPr/>
        </p:nvSpPr>
        <p:spPr>
          <a:xfrm>
            <a:off x="6526292" y="2390179"/>
            <a:ext cx="51530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Universal Selector (*):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Memilih seluruh elemen tanpa terkecuali.</a:t>
            </a:r>
            <a:endParaRPr/>
          </a:p>
        </p:txBody>
      </p:sp>
      <p:sp>
        <p:nvSpPr>
          <p:cNvPr id="238" name="Google Shape;238;p19"/>
          <p:cNvSpPr txBox="1"/>
          <p:nvPr/>
        </p:nvSpPr>
        <p:spPr>
          <a:xfrm>
            <a:off x="6526292" y="2725935"/>
            <a:ext cx="5153025" cy="442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Element / Tag Selector (p, div):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Memilih elemen berdasarkan nama tag HTML.</a:t>
            </a:r>
            <a:endParaRPr/>
          </a:p>
        </p:txBody>
      </p:sp>
      <p:sp>
        <p:nvSpPr>
          <p:cNvPr id="239" name="Google Shape;239;p19"/>
          <p:cNvSpPr txBox="1"/>
          <p:nvPr/>
        </p:nvSpPr>
        <p:spPr>
          <a:xfrm>
            <a:off x="6526292" y="3283147"/>
            <a:ext cx="51530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ID Selector (#header):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Memilih satu elemen unik spesifik.</a:t>
            </a:r>
            <a:endParaRPr/>
          </a:p>
        </p:txBody>
      </p:sp>
      <p:sp>
        <p:nvSpPr>
          <p:cNvPr id="240" name="Google Shape;240;p19"/>
          <p:cNvSpPr txBox="1"/>
          <p:nvPr/>
        </p:nvSpPr>
        <p:spPr>
          <a:xfrm>
            <a:off x="6526292" y="3618904"/>
            <a:ext cx="515302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Class Selector (.btn):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Memilih kelompok elemen yang berbagi class sama.</a:t>
            </a:r>
            <a:endParaRPr/>
          </a:p>
        </p:txBody>
      </p:sp>
      <p:sp>
        <p:nvSpPr>
          <p:cNvPr id="241" name="Google Shape;241;p19"/>
          <p:cNvSpPr txBox="1"/>
          <p:nvPr/>
        </p:nvSpPr>
        <p:spPr>
          <a:xfrm>
            <a:off x="6526292" y="3954660"/>
            <a:ext cx="51530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Attribute &amp; Pseudo Selector: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Memilih elemen berdasarkan status (:hover) atau atribut.</a:t>
            </a:r>
            <a:endParaRPr/>
          </a:p>
        </p:txBody>
      </p:sp>
      <p:pic>
        <p:nvPicPr>
          <p:cNvPr id="242" name="Google Shape;24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259592" y="2428279"/>
            <a:ext cx="11430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259592" y="2764035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59592" y="3321247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6259592" y="3657004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6259592" y="3992760"/>
            <a:ext cx="1524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9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METODE &amp; </a:t>
            </a: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SELECTOR CSS</a:t>
            </a:r>
            <a:endParaRPr dirty="0"/>
          </a:p>
        </p:txBody>
      </p:sp>
      <p:sp>
        <p:nvSpPr>
          <p:cNvPr id="248" name="Google Shape;248;p19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8EA39E4-40BE-3906-170C-235C3D258EB8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590F9A9-8EB4-DB8A-45F6-778067F44157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335F171-F824-CDA5-32BE-58C31CA9BB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8CCDB20-BDBE-BA5D-726B-C4288CB6F47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26" name="Google Shape;258;p20">
            <a:extLst>
              <a:ext uri="{FF2B5EF4-FFF2-40B4-BE49-F238E27FC236}">
                <a16:creationId xmlns:a16="http://schemas.microsoft.com/office/drawing/2014/main" id="{E055A7AC-DE8B-6EED-5097-E4A7252B06F8}"/>
              </a:ext>
            </a:extLst>
          </p:cNvPr>
          <p:cNvSpPr txBox="1"/>
          <p:nvPr/>
        </p:nvSpPr>
        <p:spPr>
          <a:xfrm>
            <a:off x="762000" y="5475040"/>
            <a:ext cx="10706100" cy="268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 err="1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Prioritas</a:t>
            </a:r>
            <a:r>
              <a:rPr lang="en-US" sz="1125" b="1" i="0" u="none" strike="noStrike" cap="none" dirty="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selector :</a:t>
            </a:r>
            <a:r>
              <a:rPr lang="en-US" sz="1125" b="0" i="0" u="none" strike="noStrike" cap="none" dirty="0">
                <a:solidFill>
                  <a:srgbClr val="E2E8F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!important – Internal – Inline –Id – Class – Element - Universal</a:t>
            </a:r>
            <a:endParaRPr dirty="0"/>
          </a:p>
        </p:txBody>
      </p:sp>
      <p:pic>
        <p:nvPicPr>
          <p:cNvPr id="28" name="Google Shape;255;p20" descr="image.png">
            <a:extLst>
              <a:ext uri="{FF2B5EF4-FFF2-40B4-BE49-F238E27FC236}">
                <a16:creationId xmlns:a16="http://schemas.microsoft.com/office/drawing/2014/main" id="{4BC136AD-B1C2-9AE5-CFEF-D78849DFE88A}"/>
              </a:ext>
            </a:extLst>
          </p:cNvPr>
          <p:cNvPicPr preferRelativeResize="0"/>
          <p:nvPr/>
        </p:nvPicPr>
        <p:blipFill rotWithShape="1">
          <a:blip r:embed="rId17">
            <a:alphaModFix amt="35000"/>
            <a:biLevel thresh="75000"/>
          </a:blip>
          <a:srcRect/>
          <a:stretch/>
        </p:blipFill>
        <p:spPr>
          <a:xfrm>
            <a:off x="533400" y="5349635"/>
            <a:ext cx="11125200" cy="52356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40052F2-7034-3DFD-4046-7A3BDDC6CF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95" name="Google Shape;295;p21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26017" y="1419226"/>
            <a:ext cx="5419725" cy="1186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26017" y="2920366"/>
            <a:ext cx="5419725" cy="118681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238875" y="1928812"/>
            <a:ext cx="541972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764142" y="1672923"/>
            <a:ext cx="4895611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CSS Vanilla </a:t>
            </a:r>
            <a:endParaRPr dirty="0"/>
          </a:p>
        </p:txBody>
      </p:sp>
      <p:sp>
        <p:nvSpPr>
          <p:cNvPr id="299" name="Google Shape;299;p21"/>
          <p:cNvSpPr txBox="1"/>
          <p:nvPr/>
        </p:nvSpPr>
        <p:spPr>
          <a:xfrm>
            <a:off x="764142" y="2019300"/>
            <a:ext cx="4943475" cy="46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Menulis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aturan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nol.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Kontrol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penuh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performa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sangat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ringan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namun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membutuhkan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waktu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lebih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lama.</a:t>
            </a:r>
            <a:endParaRPr dirty="0"/>
          </a:p>
        </p:txBody>
      </p:sp>
      <p:sp>
        <p:nvSpPr>
          <p:cNvPr id="301" name="Google Shape;301;p21"/>
          <p:cNvSpPr txBox="1"/>
          <p:nvPr/>
        </p:nvSpPr>
        <p:spPr>
          <a:xfrm>
            <a:off x="814148" y="3174741"/>
            <a:ext cx="484560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Bootstrap</a:t>
            </a:r>
            <a:endParaRPr dirty="0"/>
          </a:p>
        </p:txBody>
      </p:sp>
      <p:sp>
        <p:nvSpPr>
          <p:cNvPr id="306" name="Google Shape;306;p21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CSS </a:t>
            </a: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VS FRAMEWORK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7" name="Google Shape;307;p21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2BE8C3D-138B-D08B-2F86-A781AC861ABD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7E7F0D6-C1D9-2589-6D37-92A298CDA74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0AE742C-483D-A59B-70E1-66A24E26EC9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6214AF9-9C9E-35BE-F403-E6D365A01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9" name="Google Shape;300;p21">
            <a:extLst>
              <a:ext uri="{FF2B5EF4-FFF2-40B4-BE49-F238E27FC236}">
                <a16:creationId xmlns:a16="http://schemas.microsoft.com/office/drawing/2014/main" id="{D3E3F757-1AD5-8CB0-B517-F4C451BC69CC}"/>
              </a:ext>
            </a:extLst>
          </p:cNvPr>
          <p:cNvSpPr txBox="1"/>
          <p:nvPr/>
        </p:nvSpPr>
        <p:spPr>
          <a:xfrm>
            <a:off x="764142" y="3452427"/>
            <a:ext cx="4943475" cy="46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Framework CSS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siap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pakai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komponen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pre-styled (Navbar, Modal, Grid System)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eksekusi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cepat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pic>
        <p:nvPicPr>
          <p:cNvPr id="13" name="Google Shape;296;p21" descr="image.png">
            <a:extLst>
              <a:ext uri="{FF2B5EF4-FFF2-40B4-BE49-F238E27FC236}">
                <a16:creationId xmlns:a16="http://schemas.microsoft.com/office/drawing/2014/main" id="{7D0170F1-8A96-E600-11CB-A019B3EFE617}"/>
              </a:ext>
            </a:extLst>
          </p:cNvPr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26017" y="4406266"/>
            <a:ext cx="5419725" cy="118681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301;p21">
            <a:extLst>
              <a:ext uri="{FF2B5EF4-FFF2-40B4-BE49-F238E27FC236}">
                <a16:creationId xmlns:a16="http://schemas.microsoft.com/office/drawing/2014/main" id="{C4BDAFE6-99EF-73F5-C23C-AAD58CEF8BA8}"/>
              </a:ext>
            </a:extLst>
          </p:cNvPr>
          <p:cNvSpPr txBox="1"/>
          <p:nvPr/>
        </p:nvSpPr>
        <p:spPr>
          <a:xfrm>
            <a:off x="814148" y="4660641"/>
            <a:ext cx="4845605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Tailwind</a:t>
            </a:r>
            <a:endParaRPr dirty="0"/>
          </a:p>
        </p:txBody>
      </p:sp>
      <p:sp>
        <p:nvSpPr>
          <p:cNvPr id="19" name="Google Shape;300;p21">
            <a:extLst>
              <a:ext uri="{FF2B5EF4-FFF2-40B4-BE49-F238E27FC236}">
                <a16:creationId xmlns:a16="http://schemas.microsoft.com/office/drawing/2014/main" id="{B0AB5F75-6159-CD10-4418-5DE17D68479E}"/>
              </a:ext>
            </a:extLst>
          </p:cNvPr>
          <p:cNvSpPr txBox="1"/>
          <p:nvPr/>
        </p:nvSpPr>
        <p:spPr>
          <a:xfrm>
            <a:off x="764142" y="4938327"/>
            <a:ext cx="4943475" cy="46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enyediakan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kelas-kelas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atomik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langsung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HTML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fleksibilitas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kustomisasi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tanpa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batas.</a:t>
            </a:r>
            <a:endParaRPr dirty="0"/>
          </a:p>
        </p:txBody>
      </p:sp>
      <p:pic>
        <p:nvPicPr>
          <p:cNvPr id="21" name="Picture 20" descr="a_clean_high_contrast_infographic_ui_concept_il_batch_3.png">
            <a:extLst>
              <a:ext uri="{FF2B5EF4-FFF2-40B4-BE49-F238E27FC236}">
                <a16:creationId xmlns:a16="http://schemas.microsoft.com/office/drawing/2014/main" id="{490BBA1B-693C-BB2C-4389-E4E6239BC3A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2257" r="382"/>
          <a:stretch>
            <a:fillRect/>
          </a:stretch>
        </p:blipFill>
        <p:spPr>
          <a:xfrm>
            <a:off x="6312331" y="2086695"/>
            <a:ext cx="5272811" cy="30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CA4FFF13-6AA9-C3F7-0951-7BBE148715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13" name="Google Shape;313;p22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33400" y="2721471"/>
            <a:ext cx="3581400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2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4305300" y="2721471"/>
            <a:ext cx="3581400" cy="203418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22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8077200" y="2721471"/>
            <a:ext cx="3581400" cy="203418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2"/>
          <p:cNvSpPr txBox="1"/>
          <p:nvPr/>
        </p:nvSpPr>
        <p:spPr>
          <a:xfrm>
            <a:off x="771525" y="3388221"/>
            <a:ext cx="326040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DOM Manipulation</a:t>
            </a:r>
            <a:endParaRPr/>
          </a:p>
        </p:txBody>
      </p:sp>
      <p:sp>
        <p:nvSpPr>
          <p:cNvPr id="317" name="Google Shape;317;p22"/>
          <p:cNvSpPr txBox="1"/>
          <p:nvPr/>
        </p:nvSpPr>
        <p:spPr>
          <a:xfrm>
            <a:off x="771525" y="3750171"/>
            <a:ext cx="3105150" cy="7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JS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dapat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membaca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mengubah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menambah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atau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menghapus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elemen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HTML &amp;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atribut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CSS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langsung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peramban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real-time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tanpa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me-load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ulang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318" name="Google Shape;318;p22"/>
          <p:cNvSpPr txBox="1"/>
          <p:nvPr/>
        </p:nvSpPr>
        <p:spPr>
          <a:xfrm>
            <a:off x="4543425" y="3388221"/>
            <a:ext cx="326040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Event Handling</a:t>
            </a:r>
            <a:endParaRPr/>
          </a:p>
        </p:txBody>
      </p:sp>
      <p:sp>
        <p:nvSpPr>
          <p:cNvPr id="319" name="Google Shape;319;p22"/>
          <p:cNvSpPr txBox="1"/>
          <p:nvPr/>
        </p:nvSpPr>
        <p:spPr>
          <a:xfrm>
            <a:off x="4543425" y="3750171"/>
            <a:ext cx="3105150" cy="7673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JS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mendengarkan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aksi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Aktivitas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klik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tombol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gerakan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kursor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mouse,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ketikan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keyboard, submit form, scroll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lalu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merespons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tertentu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320" name="Google Shape;320;p22"/>
          <p:cNvSpPr txBox="1"/>
          <p:nvPr/>
        </p:nvSpPr>
        <p:spPr>
          <a:xfrm>
            <a:off x="8315325" y="3388221"/>
            <a:ext cx="3260407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Asynchronous / Fetch API</a:t>
            </a:r>
            <a:endParaRPr/>
          </a:p>
        </p:txBody>
      </p:sp>
      <p:sp>
        <p:nvSpPr>
          <p:cNvPr id="321" name="Google Shape;321;p22"/>
          <p:cNvSpPr txBox="1"/>
          <p:nvPr/>
        </p:nvSpPr>
        <p:spPr>
          <a:xfrm>
            <a:off x="8315324" y="3750171"/>
            <a:ext cx="3105151" cy="79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Instagram).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Mengambil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atau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mengirim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tanpa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memuat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ulang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halaman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</a:p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pic>
        <p:nvPicPr>
          <p:cNvPr id="322" name="Google Shape;322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300722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3425" y="3007221"/>
            <a:ext cx="238125" cy="26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2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5325" y="3007221"/>
            <a:ext cx="2667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22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JAVASCRIPT</a:t>
            </a:r>
            <a:endParaRPr dirty="0"/>
          </a:p>
        </p:txBody>
      </p:sp>
      <p:sp>
        <p:nvSpPr>
          <p:cNvPr id="326" name="Google Shape;326;p22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950EB94-1C46-2AE0-BAC9-14590843DBC1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35DFBCD-A4D5-3907-49CE-B6FC0F11FBE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DEC04D57-93CD-CF6E-3B09-2EE8A45E689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BFBF0ACE-30C6-2FB5-D9E7-67E164B7E9E0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8" name="Google Shape;212;p18">
            <a:extLst>
              <a:ext uri="{FF2B5EF4-FFF2-40B4-BE49-F238E27FC236}">
                <a16:creationId xmlns:a16="http://schemas.microsoft.com/office/drawing/2014/main" id="{86E2B4EB-DD50-99FB-12A4-F9DBB6A25678}"/>
              </a:ext>
            </a:extLst>
          </p:cNvPr>
          <p:cNvSpPr txBox="1"/>
          <p:nvPr/>
        </p:nvSpPr>
        <p:spPr>
          <a:xfrm>
            <a:off x="533400" y="1011971"/>
            <a:ext cx="11125200" cy="9064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JavaScript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“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otak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” dan “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saraf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” yang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membuat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website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menjadi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interaktif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responsive, JS Adalah Bahasa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pemrograman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berjalan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sisi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klien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(di browser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).</a:t>
            </a:r>
          </a:p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E644316E-BEA4-6799-AE26-B1458EFC66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32" name="Google Shape;332;p23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33400" y="1791444"/>
            <a:ext cx="5419725" cy="122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3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33400" y="3127623"/>
            <a:ext cx="5419725" cy="122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3" descr="image.png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33400" y="4463801"/>
            <a:ext cx="5419725" cy="1221878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3"/>
          <p:cNvSpPr txBox="1"/>
          <p:nvPr/>
        </p:nvSpPr>
        <p:spPr>
          <a:xfrm>
            <a:off x="1100137" y="2029569"/>
            <a:ext cx="4845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PHP (Hypertext Preprocessor)</a:t>
            </a:r>
            <a:endParaRPr dirty="0"/>
          </a:p>
        </p:txBody>
      </p:sp>
      <p:sp>
        <p:nvSpPr>
          <p:cNvPr id="337" name="Google Shape;337;p23"/>
          <p:cNvSpPr txBox="1"/>
          <p:nvPr/>
        </p:nvSpPr>
        <p:spPr>
          <a:xfrm>
            <a:off x="771525" y="2391519"/>
            <a:ext cx="4943475" cy="566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Bahasa server-side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memproses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form, login, session, dan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aturan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</a:p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38" name="Google Shape;338;p23"/>
          <p:cNvSpPr txBox="1"/>
          <p:nvPr/>
        </p:nvSpPr>
        <p:spPr>
          <a:xfrm>
            <a:off x="1033462" y="3365748"/>
            <a:ext cx="4915614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MySQL Database</a:t>
            </a:r>
            <a:endParaRPr/>
          </a:p>
        </p:txBody>
      </p:sp>
      <p:sp>
        <p:nvSpPr>
          <p:cNvPr id="339" name="Google Shape;339;p23"/>
          <p:cNvSpPr txBox="1"/>
          <p:nvPr/>
        </p:nvSpPr>
        <p:spPr>
          <a:xfrm>
            <a:off x="771525" y="3727698"/>
            <a:ext cx="4943475" cy="4651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relasional untuk menyimpan data dalam tabel, misalnya users, produk, dan transaksi.</a:t>
            </a:r>
            <a:endParaRPr lang="en-US" sz="975" b="0" i="0" u="none" strike="noStrike" cap="none" dirty="0">
              <a:solidFill>
                <a:srgbClr val="9CA3AF"/>
              </a:solidFill>
              <a:latin typeface="Plus Jakarta Sans"/>
              <a:ea typeface="Plus Jakarta Sans"/>
              <a:cs typeface="Plus Jakarta Sans"/>
              <a:sym typeface="Plus Jakarta Sans"/>
            </a:endParaRPr>
          </a:p>
        </p:txBody>
      </p:sp>
      <p:sp>
        <p:nvSpPr>
          <p:cNvPr id="340" name="Google Shape;340;p23"/>
          <p:cNvSpPr txBox="1"/>
          <p:nvPr/>
        </p:nvSpPr>
        <p:spPr>
          <a:xfrm>
            <a:off x="1100137" y="4701926"/>
            <a:ext cx="4845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API (Application Programming Interface)</a:t>
            </a:r>
            <a:endParaRPr/>
          </a:p>
        </p:txBody>
      </p:sp>
      <p:sp>
        <p:nvSpPr>
          <p:cNvPr id="341" name="Google Shape;341;p23"/>
          <p:cNvSpPr txBox="1"/>
          <p:nvPr/>
        </p:nvSpPr>
        <p:spPr>
          <a:xfrm>
            <a:off x="771525" y="5063876"/>
            <a:ext cx="4943475" cy="232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Jalur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komunikasi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antar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Contoh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 frontend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meminta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produk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</a:t>
            </a:r>
            <a:r>
              <a:rPr lang="en-US" sz="975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backend.</a:t>
            </a:r>
          </a:p>
        </p:txBody>
      </p:sp>
      <p:pic>
        <p:nvPicPr>
          <p:cNvPr id="343" name="Google Shape;343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1525" y="2058144"/>
            <a:ext cx="23336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394323"/>
            <a:ext cx="16668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2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730501"/>
            <a:ext cx="23336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3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BACK</a:t>
            </a: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</a:t>
            </a:r>
            <a:endParaRPr dirty="0"/>
          </a:p>
        </p:txBody>
      </p:sp>
      <p:sp>
        <p:nvSpPr>
          <p:cNvPr id="347" name="Google Shape;347;p23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65E06C5-2815-AF72-A069-D38194AF2C60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975A6D4-6095-C3AE-ACE5-44E05CE548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B3350253-C0FC-A124-3368-E06FDF0FA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56B390-C56A-FC2E-897C-94BB43E18F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13" name="Rounded Rectangle 350">
            <a:extLst>
              <a:ext uri="{FF2B5EF4-FFF2-40B4-BE49-F238E27FC236}">
                <a16:creationId xmlns:a16="http://schemas.microsoft.com/office/drawing/2014/main" id="{C308057F-5B65-61C7-FD4F-6A3417341DC6}"/>
              </a:ext>
            </a:extLst>
          </p:cNvPr>
          <p:cNvSpPr/>
          <p:nvPr/>
        </p:nvSpPr>
        <p:spPr>
          <a:xfrm>
            <a:off x="6419088" y="2139696"/>
            <a:ext cx="5047488" cy="987552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FC830A-4DDB-1569-8E28-8309CD4D070C}"/>
              </a:ext>
            </a:extLst>
          </p:cNvPr>
          <p:cNvSpPr/>
          <p:nvPr/>
        </p:nvSpPr>
        <p:spPr>
          <a:xfrm>
            <a:off x="6437375" y="2157984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F15CF65-EB83-497A-81C5-471751B6D426}"/>
              </a:ext>
            </a:extLst>
          </p:cNvPr>
          <p:cNvSpPr/>
          <p:nvPr/>
        </p:nvSpPr>
        <p:spPr>
          <a:xfrm>
            <a:off x="6565392" y="2253996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9B4D94A-E29B-DF3B-F1A4-5D60255CCC90}"/>
              </a:ext>
            </a:extLst>
          </p:cNvPr>
          <p:cNvSpPr/>
          <p:nvPr/>
        </p:nvSpPr>
        <p:spPr>
          <a:xfrm>
            <a:off x="6711696" y="2253996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8CB01C2-1784-5F70-BCE8-4FE8D7D7600D}"/>
              </a:ext>
            </a:extLst>
          </p:cNvPr>
          <p:cNvSpPr/>
          <p:nvPr/>
        </p:nvSpPr>
        <p:spPr>
          <a:xfrm>
            <a:off x="6858000" y="2253996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37A6231-ADFC-044F-2EF9-046730BA97A5}"/>
              </a:ext>
            </a:extLst>
          </p:cNvPr>
          <p:cNvSpPr txBox="1"/>
          <p:nvPr/>
        </p:nvSpPr>
        <p:spPr>
          <a:xfrm>
            <a:off x="7004304" y="2218290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 err="1">
                <a:solidFill>
                  <a:srgbClr val="EEF6F8"/>
                </a:solidFill>
                <a:latin typeface="Aptos"/>
              </a:rPr>
              <a:t>login.php</a:t>
            </a:r>
            <a:endParaRPr sz="750" b="1" dirty="0">
              <a:solidFill>
                <a:srgbClr val="EEF6F8"/>
              </a:solidFill>
              <a:latin typeface="Aptos"/>
            </a:endParaRPr>
          </a:p>
        </p:txBody>
      </p:sp>
      <p:sp>
        <p:nvSpPr>
          <p:cNvPr id="25" name="Rounded Rectangle 356">
            <a:extLst>
              <a:ext uri="{FF2B5EF4-FFF2-40B4-BE49-F238E27FC236}">
                <a16:creationId xmlns:a16="http://schemas.microsoft.com/office/drawing/2014/main" id="{DF7ACA8A-5971-C604-CDB4-1668030B228B}"/>
              </a:ext>
            </a:extLst>
          </p:cNvPr>
          <p:cNvSpPr/>
          <p:nvPr/>
        </p:nvSpPr>
        <p:spPr>
          <a:xfrm>
            <a:off x="10716767" y="2194560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PHP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2480683-D429-F717-6B0B-35F1F52C94A0}"/>
              </a:ext>
            </a:extLst>
          </p:cNvPr>
          <p:cNvSpPr txBox="1"/>
          <p:nvPr/>
        </p:nvSpPr>
        <p:spPr>
          <a:xfrm>
            <a:off x="6565392" y="2560320"/>
            <a:ext cx="292608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>
                <a:solidFill>
                  <a:srgbClr val="91A4AE"/>
                </a:solidFill>
                <a:latin typeface="Consolas"/>
              </a:rPr>
              <a:t> 1
 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630BA90-0A3F-2B64-7D4B-0B39CD26FE26}"/>
              </a:ext>
            </a:extLst>
          </p:cNvPr>
          <p:cNvSpPr txBox="1"/>
          <p:nvPr/>
        </p:nvSpPr>
        <p:spPr>
          <a:xfrm>
            <a:off x="6894575" y="2560320"/>
            <a:ext cx="4407407" cy="4846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>
                <a:solidFill>
                  <a:srgbClr val="EEF6F8"/>
                </a:solidFill>
                <a:latin typeface="Consolas"/>
              </a:rPr>
              <a:t>$email = $_POST['email'];
$user = User::where('email', $email)-&gt;first();</a:t>
            </a:r>
          </a:p>
        </p:txBody>
      </p:sp>
      <p:sp>
        <p:nvSpPr>
          <p:cNvPr id="31" name="Rounded Rectangle 359">
            <a:extLst>
              <a:ext uri="{FF2B5EF4-FFF2-40B4-BE49-F238E27FC236}">
                <a16:creationId xmlns:a16="http://schemas.microsoft.com/office/drawing/2014/main" id="{F60E1509-7E9B-E523-B1CB-64F6E6C8DF26}"/>
              </a:ext>
            </a:extLst>
          </p:cNvPr>
          <p:cNvSpPr/>
          <p:nvPr/>
        </p:nvSpPr>
        <p:spPr>
          <a:xfrm>
            <a:off x="6419088" y="3246120"/>
            <a:ext cx="5047488" cy="960120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96862B6-1CC1-B781-3F6F-CB42FC12FD4E}"/>
              </a:ext>
            </a:extLst>
          </p:cNvPr>
          <p:cNvSpPr/>
          <p:nvPr/>
        </p:nvSpPr>
        <p:spPr>
          <a:xfrm>
            <a:off x="6437375" y="3264408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0E92CC61-5492-EF4A-FE72-D0FCD64799FF}"/>
              </a:ext>
            </a:extLst>
          </p:cNvPr>
          <p:cNvSpPr/>
          <p:nvPr/>
        </p:nvSpPr>
        <p:spPr>
          <a:xfrm>
            <a:off x="6565392" y="3360420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8347C47D-140E-BFEA-FFDB-9661BCF6A05C}"/>
              </a:ext>
            </a:extLst>
          </p:cNvPr>
          <p:cNvSpPr/>
          <p:nvPr/>
        </p:nvSpPr>
        <p:spPr>
          <a:xfrm>
            <a:off x="6711696" y="3360420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A5CE95B1-078B-451C-48AA-840BF6157B2B}"/>
              </a:ext>
            </a:extLst>
          </p:cNvPr>
          <p:cNvSpPr/>
          <p:nvPr/>
        </p:nvSpPr>
        <p:spPr>
          <a:xfrm>
            <a:off x="6858000" y="3360420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2844F11A-B675-E5F8-1FA0-5C9BA1046170}"/>
              </a:ext>
            </a:extLst>
          </p:cNvPr>
          <p:cNvSpPr txBox="1"/>
          <p:nvPr/>
        </p:nvSpPr>
        <p:spPr>
          <a:xfrm>
            <a:off x="7004304" y="3324714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 err="1">
                <a:solidFill>
                  <a:srgbClr val="EEF6F8"/>
                </a:solidFill>
                <a:latin typeface="Aptos"/>
              </a:rPr>
              <a:t>database.sql</a:t>
            </a:r>
            <a:endParaRPr sz="750" b="1" dirty="0">
              <a:solidFill>
                <a:srgbClr val="EEF6F8"/>
              </a:solidFill>
              <a:latin typeface="Aptos"/>
            </a:endParaRPr>
          </a:p>
        </p:txBody>
      </p:sp>
      <p:sp>
        <p:nvSpPr>
          <p:cNvPr id="43" name="Rounded Rectangle 365">
            <a:extLst>
              <a:ext uri="{FF2B5EF4-FFF2-40B4-BE49-F238E27FC236}">
                <a16:creationId xmlns:a16="http://schemas.microsoft.com/office/drawing/2014/main" id="{A485F4B5-38E9-2E4D-9A4F-189E5E075C06}"/>
              </a:ext>
            </a:extLst>
          </p:cNvPr>
          <p:cNvSpPr/>
          <p:nvPr/>
        </p:nvSpPr>
        <p:spPr>
          <a:xfrm>
            <a:off x="10716767" y="3300984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SQL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6A8B6805-9558-D6F5-A020-3C561EA3FFB3}"/>
              </a:ext>
            </a:extLst>
          </p:cNvPr>
          <p:cNvSpPr txBox="1"/>
          <p:nvPr/>
        </p:nvSpPr>
        <p:spPr>
          <a:xfrm>
            <a:off x="6565392" y="3666744"/>
            <a:ext cx="292608" cy="448056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A771147-53C4-BC7D-D0C2-8D48365EBCA9}"/>
              </a:ext>
            </a:extLst>
          </p:cNvPr>
          <p:cNvSpPr txBox="1"/>
          <p:nvPr/>
        </p:nvSpPr>
        <p:spPr>
          <a:xfrm>
            <a:off x="6894575" y="3666744"/>
            <a:ext cx="4407407" cy="45720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20">
                <a:solidFill>
                  <a:srgbClr val="EEF6F8"/>
                </a:solidFill>
                <a:latin typeface="Consolas"/>
              </a:rPr>
              <a:t>SELECT id, name, email
FROM users
WHERE status = 'aktif';</a:t>
            </a:r>
          </a:p>
        </p:txBody>
      </p:sp>
      <p:sp>
        <p:nvSpPr>
          <p:cNvPr id="49" name="Rounded Rectangle 368">
            <a:extLst>
              <a:ext uri="{FF2B5EF4-FFF2-40B4-BE49-F238E27FC236}">
                <a16:creationId xmlns:a16="http://schemas.microsoft.com/office/drawing/2014/main" id="{367AB7C2-F0A6-AE47-B142-89637BF29623}"/>
              </a:ext>
            </a:extLst>
          </p:cNvPr>
          <p:cNvSpPr/>
          <p:nvPr/>
        </p:nvSpPr>
        <p:spPr>
          <a:xfrm>
            <a:off x="6419088" y="4334256"/>
            <a:ext cx="5047488" cy="987552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ECBE3B2-E7CF-B984-BF21-2C3BA3B17F13}"/>
              </a:ext>
            </a:extLst>
          </p:cNvPr>
          <p:cNvSpPr/>
          <p:nvPr/>
        </p:nvSpPr>
        <p:spPr>
          <a:xfrm>
            <a:off x="6437375" y="4352544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CF5D280D-4F07-29BA-AC0F-151B32E3025C}"/>
              </a:ext>
            </a:extLst>
          </p:cNvPr>
          <p:cNvSpPr/>
          <p:nvPr/>
        </p:nvSpPr>
        <p:spPr>
          <a:xfrm>
            <a:off x="6565392" y="4448556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DA71A3EB-0E99-9E23-D367-E58749282C44}"/>
              </a:ext>
            </a:extLst>
          </p:cNvPr>
          <p:cNvSpPr/>
          <p:nvPr/>
        </p:nvSpPr>
        <p:spPr>
          <a:xfrm>
            <a:off x="6711696" y="4448556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AEF05C52-52E6-A2EC-9D64-5297ED98620B}"/>
              </a:ext>
            </a:extLst>
          </p:cNvPr>
          <p:cNvSpPr/>
          <p:nvPr/>
        </p:nvSpPr>
        <p:spPr>
          <a:xfrm>
            <a:off x="6858000" y="4448556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176B281-95FB-EBEB-3C86-0DD42B6DE337}"/>
              </a:ext>
            </a:extLst>
          </p:cNvPr>
          <p:cNvSpPr txBox="1"/>
          <p:nvPr/>
        </p:nvSpPr>
        <p:spPr>
          <a:xfrm>
            <a:off x="7004304" y="4412850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 err="1">
                <a:solidFill>
                  <a:srgbClr val="EEF6F8"/>
                </a:solidFill>
                <a:latin typeface="Aptos"/>
              </a:rPr>
              <a:t>api-response.json</a:t>
            </a:r>
            <a:endParaRPr sz="750" b="1" dirty="0">
              <a:solidFill>
                <a:srgbClr val="EEF6F8"/>
              </a:solidFill>
              <a:latin typeface="Aptos"/>
            </a:endParaRPr>
          </a:p>
        </p:txBody>
      </p:sp>
      <p:sp>
        <p:nvSpPr>
          <p:cNvPr id="61" name="Rounded Rectangle 374">
            <a:extLst>
              <a:ext uri="{FF2B5EF4-FFF2-40B4-BE49-F238E27FC236}">
                <a16:creationId xmlns:a16="http://schemas.microsoft.com/office/drawing/2014/main" id="{2F90750F-4040-B34D-414D-E9C9C4F3DEA6}"/>
              </a:ext>
            </a:extLst>
          </p:cNvPr>
          <p:cNvSpPr/>
          <p:nvPr/>
        </p:nvSpPr>
        <p:spPr>
          <a:xfrm>
            <a:off x="10716767" y="4389120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API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49BF638-7547-18B8-A005-E7E4C7125AA5}"/>
              </a:ext>
            </a:extLst>
          </p:cNvPr>
          <p:cNvSpPr txBox="1"/>
          <p:nvPr/>
        </p:nvSpPr>
        <p:spPr>
          <a:xfrm>
            <a:off x="6565392" y="4754880"/>
            <a:ext cx="292608" cy="47548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1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321" name="TextBox 320">
            <a:extLst>
              <a:ext uri="{FF2B5EF4-FFF2-40B4-BE49-F238E27FC236}">
                <a16:creationId xmlns:a16="http://schemas.microsoft.com/office/drawing/2014/main" id="{6EC2ABD2-A0F3-5479-3C44-12C1527DF864}"/>
              </a:ext>
            </a:extLst>
          </p:cNvPr>
          <p:cNvSpPr txBox="1"/>
          <p:nvPr/>
        </p:nvSpPr>
        <p:spPr>
          <a:xfrm>
            <a:off x="6894575" y="4754880"/>
            <a:ext cx="4407407" cy="48463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10">
                <a:solidFill>
                  <a:srgbClr val="EEF6F8"/>
                </a:solidFill>
                <a:latin typeface="Consolas"/>
              </a:rPr>
              <a:t>{ "status": "success", "data": [
  { "id": 1, "name": "Rendi" }
]}</a:t>
            </a:r>
          </a:p>
        </p:txBody>
      </p:sp>
      <p:sp>
        <p:nvSpPr>
          <p:cNvPr id="8" name="Google Shape;212;p18">
            <a:extLst>
              <a:ext uri="{FF2B5EF4-FFF2-40B4-BE49-F238E27FC236}">
                <a16:creationId xmlns:a16="http://schemas.microsoft.com/office/drawing/2014/main" id="{48E9441E-24B9-EE1C-2ACE-1DF020D8D868}"/>
              </a:ext>
            </a:extLst>
          </p:cNvPr>
          <p:cNvSpPr txBox="1"/>
          <p:nvPr/>
        </p:nvSpPr>
        <p:spPr>
          <a:xfrm>
            <a:off x="533400" y="1011971"/>
            <a:ext cx="11125200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55000"/>
              </a:lnSpc>
            </a:pP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Backend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semua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proses yang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tidak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dilihat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langsung</a:t>
            </a:r>
            <a:r>
              <a:rPr lang="en-US" sz="1200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oleh </a:t>
            </a:r>
            <a:r>
              <a:rPr lang="en-US" sz="1200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pengguna.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bagian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atau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"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belakang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layar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"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sebuah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atau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website yang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mengolah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data, </a:t>
            </a:r>
            <a:r>
              <a:rPr lang="en-US" sz="120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120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dan server.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333F0EB6-DCDB-FC3E-459C-94FADF9623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97" name="Google Shape;397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309961"/>
            <a:ext cx="119255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26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33400" y="3504307"/>
            <a:ext cx="5419725" cy="43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26" descr="image.png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33400" y="4019996"/>
            <a:ext cx="5419725" cy="43948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26" descr="image.png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533400" y="4535685"/>
            <a:ext cx="5419725" cy="631328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26"/>
          <p:cNvSpPr txBox="1"/>
          <p:nvPr/>
        </p:nvSpPr>
        <p:spPr>
          <a:xfrm>
            <a:off x="533400" y="2681436"/>
            <a:ext cx="5419725" cy="708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MVC (Model-View-Controller)</a:t>
            </a:r>
            <a:r>
              <a:rPr lang="en-US" sz="1200" b="0" i="0" u="none" strike="noStrike" cap="non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adalah pola arsitektur perangkat lunak yang memisahkan aplikasi menjadi tiga komponen utama agar kode rapi dan mudah dirawat:</a:t>
            </a:r>
            <a:endParaRPr/>
          </a:p>
        </p:txBody>
      </p:sp>
      <p:sp>
        <p:nvSpPr>
          <p:cNvPr id="403" name="Google Shape;403;p26"/>
          <p:cNvSpPr txBox="1"/>
          <p:nvPr/>
        </p:nvSpPr>
        <p:spPr>
          <a:xfrm>
            <a:off x="657225" y="3625804"/>
            <a:ext cx="5172075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 (M):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Komponen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pengelola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logika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dan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interaksi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langsung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dengan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basis data.</a:t>
            </a:r>
            <a:endParaRPr dirty="0"/>
          </a:p>
        </p:txBody>
      </p:sp>
      <p:sp>
        <p:nvSpPr>
          <p:cNvPr id="404" name="Google Shape;404;p26"/>
          <p:cNvSpPr txBox="1"/>
          <p:nvPr/>
        </p:nvSpPr>
        <p:spPr>
          <a:xfrm>
            <a:off x="657225" y="4139580"/>
            <a:ext cx="5172075" cy="191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View (V):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Komponen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antarmuka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visual (UI) yang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menampilkan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kepada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405" name="Google Shape;405;p26"/>
          <p:cNvSpPr txBox="1"/>
          <p:nvPr/>
        </p:nvSpPr>
        <p:spPr>
          <a:xfrm>
            <a:off x="657225" y="4653101"/>
            <a:ext cx="5172075" cy="38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Controller (C):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Pengatur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lalu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lintas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yang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menerima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request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memanggil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Model,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lalu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menyajikan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View yang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sesuai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407" name="Google Shape;407;p26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ARSITEKTUR </a:t>
            </a:r>
            <a:r>
              <a:rPr lang="en-US" sz="24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MVC</a:t>
            </a:r>
            <a:endParaRPr/>
          </a:p>
        </p:txBody>
      </p:sp>
      <p:sp>
        <p:nvSpPr>
          <p:cNvPr id="408" name="Google Shape;408;p26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F1896BE-B0EE-4AD9-7341-7D0C077F2A75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3D312AA-11B5-E5C8-39D9-D50565BAA0A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90660FA3-F06E-C064-B376-54006B35A7E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FAF5516-15E0-1390-F70D-BD4F540A386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9" name="Rounded Rectangle 409">
            <a:extLst>
              <a:ext uri="{FF2B5EF4-FFF2-40B4-BE49-F238E27FC236}">
                <a16:creationId xmlns:a16="http://schemas.microsoft.com/office/drawing/2014/main" id="{79857BFD-ED7C-1832-C7B3-5867CA2B66C9}"/>
              </a:ext>
            </a:extLst>
          </p:cNvPr>
          <p:cNvSpPr/>
          <p:nvPr/>
        </p:nvSpPr>
        <p:spPr>
          <a:xfrm>
            <a:off x="6486525" y="2320247"/>
            <a:ext cx="5047488" cy="941832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08CB1E-F9BB-6915-1963-F9F3BE12E617}"/>
              </a:ext>
            </a:extLst>
          </p:cNvPr>
          <p:cNvSpPr/>
          <p:nvPr/>
        </p:nvSpPr>
        <p:spPr>
          <a:xfrm>
            <a:off x="6504812" y="2338535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6BF66D0-1410-5EBB-6C0A-D2DC745BBF0F}"/>
              </a:ext>
            </a:extLst>
          </p:cNvPr>
          <p:cNvSpPr/>
          <p:nvPr/>
        </p:nvSpPr>
        <p:spPr>
          <a:xfrm>
            <a:off x="6632829" y="2434547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5D8F8629-0D9D-21AE-6330-55A4A9D79E69}"/>
              </a:ext>
            </a:extLst>
          </p:cNvPr>
          <p:cNvSpPr/>
          <p:nvPr/>
        </p:nvSpPr>
        <p:spPr>
          <a:xfrm>
            <a:off x="6779133" y="2434547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76B59D9-847C-5B2E-DA00-84F7D8AF1B16}"/>
              </a:ext>
            </a:extLst>
          </p:cNvPr>
          <p:cNvSpPr/>
          <p:nvPr/>
        </p:nvSpPr>
        <p:spPr>
          <a:xfrm>
            <a:off x="6925437" y="2434547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185AC8-282D-02D3-1A9B-78A3EC856C7D}"/>
              </a:ext>
            </a:extLst>
          </p:cNvPr>
          <p:cNvSpPr txBox="1"/>
          <p:nvPr/>
        </p:nvSpPr>
        <p:spPr>
          <a:xfrm>
            <a:off x="7071741" y="2402544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>
                <a:solidFill>
                  <a:srgbClr val="EEF6F8"/>
                </a:solidFill>
                <a:latin typeface="Aptos"/>
              </a:rPr>
              <a:t>Model: User.php</a:t>
            </a:r>
          </a:p>
        </p:txBody>
      </p:sp>
      <p:sp>
        <p:nvSpPr>
          <p:cNvPr id="21" name="Rounded Rectangle 415">
            <a:extLst>
              <a:ext uri="{FF2B5EF4-FFF2-40B4-BE49-F238E27FC236}">
                <a16:creationId xmlns:a16="http://schemas.microsoft.com/office/drawing/2014/main" id="{D7A9C8C3-DB75-FB63-4738-F5835DD5ACB3}"/>
              </a:ext>
            </a:extLst>
          </p:cNvPr>
          <p:cNvSpPr/>
          <p:nvPr/>
        </p:nvSpPr>
        <p:spPr>
          <a:xfrm>
            <a:off x="10784204" y="2375111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MODEL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CAC0FB-FC09-D94F-33BA-0A07E15CAD8F}"/>
              </a:ext>
            </a:extLst>
          </p:cNvPr>
          <p:cNvSpPr txBox="1"/>
          <p:nvPr/>
        </p:nvSpPr>
        <p:spPr>
          <a:xfrm>
            <a:off x="6632829" y="2740871"/>
            <a:ext cx="292608" cy="429768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1C4A395-4898-43FC-EFED-21F9A0903BD7}"/>
              </a:ext>
            </a:extLst>
          </p:cNvPr>
          <p:cNvSpPr txBox="1"/>
          <p:nvPr/>
        </p:nvSpPr>
        <p:spPr>
          <a:xfrm>
            <a:off x="6962012" y="2740871"/>
            <a:ext cx="4407407" cy="43891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>
                <a:solidFill>
                  <a:srgbClr val="EEF6F8"/>
                </a:solidFill>
                <a:latin typeface="Consolas"/>
              </a:rPr>
              <a:t>class User extends Model {
  protected $fillable = ['name','email'];
}</a:t>
            </a:r>
          </a:p>
        </p:txBody>
      </p:sp>
      <p:sp>
        <p:nvSpPr>
          <p:cNvPr id="27" name="Rounded Rectangle 418">
            <a:extLst>
              <a:ext uri="{FF2B5EF4-FFF2-40B4-BE49-F238E27FC236}">
                <a16:creationId xmlns:a16="http://schemas.microsoft.com/office/drawing/2014/main" id="{7744BCBF-DD3E-6D6B-8183-0994F25C2456}"/>
              </a:ext>
            </a:extLst>
          </p:cNvPr>
          <p:cNvSpPr/>
          <p:nvPr/>
        </p:nvSpPr>
        <p:spPr>
          <a:xfrm>
            <a:off x="6486525" y="3399239"/>
            <a:ext cx="5047488" cy="914400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E2DA93-C6B3-7052-C640-2F0A3A47420F}"/>
              </a:ext>
            </a:extLst>
          </p:cNvPr>
          <p:cNvSpPr/>
          <p:nvPr/>
        </p:nvSpPr>
        <p:spPr>
          <a:xfrm>
            <a:off x="6504812" y="3417527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4365BA7A-34DF-6615-E700-3491B88E47B0}"/>
              </a:ext>
            </a:extLst>
          </p:cNvPr>
          <p:cNvSpPr/>
          <p:nvPr/>
        </p:nvSpPr>
        <p:spPr>
          <a:xfrm>
            <a:off x="6632829" y="3513539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4217A468-97B0-5369-A24A-AE3204069DB2}"/>
              </a:ext>
            </a:extLst>
          </p:cNvPr>
          <p:cNvSpPr/>
          <p:nvPr/>
        </p:nvSpPr>
        <p:spPr>
          <a:xfrm>
            <a:off x="6779133" y="3513539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2B8984E-5D23-7D0C-D48E-0DBB5E0DC422}"/>
              </a:ext>
            </a:extLst>
          </p:cNvPr>
          <p:cNvSpPr/>
          <p:nvPr/>
        </p:nvSpPr>
        <p:spPr>
          <a:xfrm>
            <a:off x="6925437" y="3513539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65FE324-FAB8-1387-88E1-03467E9D5741}"/>
              </a:ext>
            </a:extLst>
          </p:cNvPr>
          <p:cNvSpPr txBox="1"/>
          <p:nvPr/>
        </p:nvSpPr>
        <p:spPr>
          <a:xfrm>
            <a:off x="7071741" y="3481536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>
                <a:solidFill>
                  <a:srgbClr val="EEF6F8"/>
                </a:solidFill>
                <a:latin typeface="Aptos"/>
              </a:rPr>
              <a:t>Controller: UserController.php</a:t>
            </a:r>
          </a:p>
        </p:txBody>
      </p:sp>
      <p:sp>
        <p:nvSpPr>
          <p:cNvPr id="39" name="Rounded Rectangle 424">
            <a:extLst>
              <a:ext uri="{FF2B5EF4-FFF2-40B4-BE49-F238E27FC236}">
                <a16:creationId xmlns:a16="http://schemas.microsoft.com/office/drawing/2014/main" id="{776A644A-2D97-CC52-E931-0BF5587DC1FD}"/>
              </a:ext>
            </a:extLst>
          </p:cNvPr>
          <p:cNvSpPr/>
          <p:nvPr/>
        </p:nvSpPr>
        <p:spPr>
          <a:xfrm>
            <a:off x="10784204" y="3454103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CTRL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0ECD063-AB87-F3C4-E6AA-778DD1FCED17}"/>
              </a:ext>
            </a:extLst>
          </p:cNvPr>
          <p:cNvSpPr txBox="1"/>
          <p:nvPr/>
        </p:nvSpPr>
        <p:spPr>
          <a:xfrm>
            <a:off x="6632829" y="3819863"/>
            <a:ext cx="292608" cy="4023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7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6EEFEA4E-860C-F562-88E1-2A6AD76FAA7F}"/>
              </a:ext>
            </a:extLst>
          </p:cNvPr>
          <p:cNvSpPr txBox="1"/>
          <p:nvPr/>
        </p:nvSpPr>
        <p:spPr>
          <a:xfrm>
            <a:off x="6962012" y="3819863"/>
            <a:ext cx="4407407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670">
                <a:solidFill>
                  <a:srgbClr val="EEF6F8"/>
                </a:solidFill>
                <a:latin typeface="Consolas"/>
              </a:rPr>
              <a:t>public function index() {
  return view('users', ['users' =&gt; User::all()]);
}</a:t>
            </a:r>
          </a:p>
        </p:txBody>
      </p:sp>
      <p:sp>
        <p:nvSpPr>
          <p:cNvPr id="45" name="Rounded Rectangle 427">
            <a:extLst>
              <a:ext uri="{FF2B5EF4-FFF2-40B4-BE49-F238E27FC236}">
                <a16:creationId xmlns:a16="http://schemas.microsoft.com/office/drawing/2014/main" id="{178FA4E4-0C21-54FF-2C14-4EF31FDDCA27}"/>
              </a:ext>
            </a:extLst>
          </p:cNvPr>
          <p:cNvSpPr/>
          <p:nvPr/>
        </p:nvSpPr>
        <p:spPr>
          <a:xfrm>
            <a:off x="6486525" y="4450799"/>
            <a:ext cx="5047488" cy="914400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28CFC63-BC88-D679-DB50-C151CF80FD8C}"/>
              </a:ext>
            </a:extLst>
          </p:cNvPr>
          <p:cNvSpPr/>
          <p:nvPr/>
        </p:nvSpPr>
        <p:spPr>
          <a:xfrm>
            <a:off x="6504812" y="4469086"/>
            <a:ext cx="5010912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C8987075-82BC-3E8A-CEF7-F675AE06337E}"/>
              </a:ext>
            </a:extLst>
          </p:cNvPr>
          <p:cNvSpPr/>
          <p:nvPr/>
        </p:nvSpPr>
        <p:spPr>
          <a:xfrm>
            <a:off x="6632829" y="4565099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89EF8B35-993F-AB97-4342-29171608739B}"/>
              </a:ext>
            </a:extLst>
          </p:cNvPr>
          <p:cNvSpPr/>
          <p:nvPr/>
        </p:nvSpPr>
        <p:spPr>
          <a:xfrm>
            <a:off x="6779133" y="4565099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485F28DF-060B-63BC-A4AF-1C91A73AD973}"/>
              </a:ext>
            </a:extLst>
          </p:cNvPr>
          <p:cNvSpPr/>
          <p:nvPr/>
        </p:nvSpPr>
        <p:spPr>
          <a:xfrm>
            <a:off x="6925437" y="4565099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B36D02BE-A1A3-46F5-15D7-8D3FB7C3BB2E}"/>
              </a:ext>
            </a:extLst>
          </p:cNvPr>
          <p:cNvSpPr txBox="1"/>
          <p:nvPr/>
        </p:nvSpPr>
        <p:spPr>
          <a:xfrm>
            <a:off x="7071741" y="4533096"/>
            <a:ext cx="3813048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>
                <a:solidFill>
                  <a:srgbClr val="EEF6F8"/>
                </a:solidFill>
                <a:latin typeface="Aptos"/>
              </a:rPr>
              <a:t>View: users.blade.php</a:t>
            </a:r>
          </a:p>
        </p:txBody>
      </p:sp>
      <p:sp>
        <p:nvSpPr>
          <p:cNvPr id="57" name="Rounded Rectangle 433">
            <a:extLst>
              <a:ext uri="{FF2B5EF4-FFF2-40B4-BE49-F238E27FC236}">
                <a16:creationId xmlns:a16="http://schemas.microsoft.com/office/drawing/2014/main" id="{DD6F70DF-839C-32D5-B5F7-4DF4BC85CC8F}"/>
              </a:ext>
            </a:extLst>
          </p:cNvPr>
          <p:cNvSpPr/>
          <p:nvPr/>
        </p:nvSpPr>
        <p:spPr>
          <a:xfrm>
            <a:off x="10784204" y="4505663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VIEW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31B59550-FBF7-BF92-7BBF-81E209384E70}"/>
              </a:ext>
            </a:extLst>
          </p:cNvPr>
          <p:cNvSpPr txBox="1"/>
          <p:nvPr/>
        </p:nvSpPr>
        <p:spPr>
          <a:xfrm>
            <a:off x="6632829" y="4871423"/>
            <a:ext cx="292608" cy="402335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>
                <a:solidFill>
                  <a:srgbClr val="91A4AE"/>
                </a:solidFill>
                <a:latin typeface="Consolas"/>
              </a:rPr>
              <a:t> 1
 2
 3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48E2C25-0FE3-7204-1217-B31C55D7E5C7}"/>
              </a:ext>
            </a:extLst>
          </p:cNvPr>
          <p:cNvSpPr txBox="1"/>
          <p:nvPr/>
        </p:nvSpPr>
        <p:spPr>
          <a:xfrm>
            <a:off x="6962012" y="4871423"/>
            <a:ext cx="4407407" cy="411479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>
                <a:solidFill>
                  <a:srgbClr val="EEF6F8"/>
                </a:solidFill>
                <a:latin typeface="Consolas"/>
              </a:rPr>
              <a:t>@foreach ($users as $user)
  &lt;p&gt;{{ $user-&gt;name }}&lt;/p&gt;
@endforeach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7F1139DD-90E9-E722-5D48-B61F3B2B82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45" name="Google Shape;445;p28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4171950" y="2497038"/>
            <a:ext cx="5419725" cy="236874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28"/>
          <p:cNvSpPr txBox="1"/>
          <p:nvPr/>
        </p:nvSpPr>
        <p:spPr>
          <a:xfrm>
            <a:off x="4691062" y="2735163"/>
            <a:ext cx="4895611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Operasi CRUD</a:t>
            </a:r>
            <a:endParaRPr/>
          </a:p>
        </p:txBody>
      </p:sp>
      <p:sp>
        <p:nvSpPr>
          <p:cNvPr id="451" name="Google Shape;451;p28"/>
          <p:cNvSpPr txBox="1"/>
          <p:nvPr/>
        </p:nvSpPr>
        <p:spPr>
          <a:xfrm>
            <a:off x="4410075" y="3097113"/>
            <a:ext cx="4943475" cy="206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Empat fungsi dasar manipulasi data dalam sistem informasi:</a:t>
            </a:r>
            <a:endParaRPr/>
          </a:p>
        </p:txBody>
      </p:sp>
      <p:pic>
        <p:nvPicPr>
          <p:cNvPr id="455" name="Google Shape;455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10075" y="2763738"/>
            <a:ext cx="185737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28"/>
          <p:cNvSpPr txBox="1"/>
          <p:nvPr/>
        </p:nvSpPr>
        <p:spPr>
          <a:xfrm>
            <a:off x="4676775" y="3398936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Create: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Menambahkan data baru (HTTP POST).</a:t>
            </a:r>
            <a:endParaRPr/>
          </a:p>
        </p:txBody>
      </p:sp>
      <p:sp>
        <p:nvSpPr>
          <p:cNvPr id="457" name="Google Shape;457;p28"/>
          <p:cNvSpPr txBox="1"/>
          <p:nvPr/>
        </p:nvSpPr>
        <p:spPr>
          <a:xfrm>
            <a:off x="4676775" y="3734692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Read: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Menampilkan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/ </a:t>
            </a:r>
            <a:r>
              <a:rPr lang="en-US" sz="1125" b="0" i="0" u="none" strike="noStrike" cap="none" dirty="0" err="1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membaca</a:t>
            </a:r>
            <a:r>
              <a:rPr lang="en-US" sz="1125" b="0" i="0" u="none" strike="noStrike" cap="none" dirty="0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data (HTTP GET).</a:t>
            </a:r>
            <a:endParaRPr dirty="0"/>
          </a:p>
        </p:txBody>
      </p:sp>
      <p:sp>
        <p:nvSpPr>
          <p:cNvPr id="458" name="Google Shape;458;p28"/>
          <p:cNvSpPr txBox="1"/>
          <p:nvPr/>
        </p:nvSpPr>
        <p:spPr>
          <a:xfrm>
            <a:off x="4676775" y="4070449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Update: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Mengubah data yang ada (HTTP PUT/PATCH).</a:t>
            </a:r>
            <a:endParaRPr/>
          </a:p>
        </p:txBody>
      </p:sp>
      <p:sp>
        <p:nvSpPr>
          <p:cNvPr id="459" name="Google Shape;459;p28"/>
          <p:cNvSpPr txBox="1"/>
          <p:nvPr/>
        </p:nvSpPr>
        <p:spPr>
          <a:xfrm>
            <a:off x="4676775" y="4406205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Delete: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Menghapus data (HTTP DELETE).</a:t>
            </a:r>
            <a:endParaRPr/>
          </a:p>
        </p:txBody>
      </p:sp>
      <p:pic>
        <p:nvPicPr>
          <p:cNvPr id="460" name="Google Shape;460;p2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0075" y="3462039"/>
            <a:ext cx="142875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2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417218" y="3816546"/>
            <a:ext cx="152400" cy="139602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2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17218" y="4145756"/>
            <a:ext cx="142875" cy="127397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2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421980" y="4487763"/>
            <a:ext cx="130970" cy="127397"/>
          </a:xfrm>
          <a:prstGeom prst="rect">
            <a:avLst/>
          </a:prstGeom>
          <a:noFill/>
          <a:ln>
            <a:noFill/>
          </a:ln>
        </p:spPr>
      </p:pic>
      <p:sp>
        <p:nvSpPr>
          <p:cNvPr id="464" name="Google Shape;464;p28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OPERASI CRUD</a:t>
            </a:r>
            <a:endParaRPr dirty="0"/>
          </a:p>
        </p:txBody>
      </p:sp>
      <p:sp>
        <p:nvSpPr>
          <p:cNvPr id="465" name="Google Shape;465;p28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600CC33-CED3-8CF9-F574-0C206D04BFE3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DDC3A87-46D5-DC4D-866D-ACF576D36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64C2678D-96E9-98DC-D551-1BE15E5AFDD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DA7304B-0CDA-FE6A-2F9F-4EFA67A7DEFD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2F6B09E6-B7B9-F21A-3F08-E1CC15495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14" name="Google Shape;41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1847998"/>
            <a:ext cx="1785044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27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533400" y="3070919"/>
            <a:ext cx="5419725" cy="122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27" descr="image.png"/>
          <p:cNvPicPr preferRelativeResize="0"/>
          <p:nvPr/>
        </p:nvPicPr>
        <p:blipFill rotWithShape="1">
          <a:blip r:embed="rId6">
            <a:alphaModFix amt="20000"/>
          </a:blip>
          <a:srcRect/>
          <a:stretch/>
        </p:blipFill>
        <p:spPr>
          <a:xfrm>
            <a:off x="533400" y="4407098"/>
            <a:ext cx="5419725" cy="1221878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27" descr="image.png"/>
          <p:cNvPicPr preferRelativeResize="0"/>
          <p:nvPr/>
        </p:nvPicPr>
        <p:blipFill rotWithShape="1">
          <a:blip r:embed="rId7">
            <a:alphaModFix amt="20000"/>
          </a:blip>
          <a:srcRect/>
          <a:stretch/>
        </p:blipFill>
        <p:spPr>
          <a:xfrm>
            <a:off x="6238875" y="2537073"/>
            <a:ext cx="5419725" cy="2402681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27"/>
          <p:cNvSpPr txBox="1"/>
          <p:nvPr/>
        </p:nvSpPr>
        <p:spPr>
          <a:xfrm>
            <a:off x="533400" y="2219473"/>
            <a:ext cx="5419725" cy="5724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Laravel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adalah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framework PHP web  yang 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berfokus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pada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kecepatan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pengembangan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dan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keamanan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aplikasi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enterprise.</a:t>
            </a:r>
            <a:endParaRPr dirty="0"/>
          </a:p>
        </p:txBody>
      </p:sp>
      <p:sp>
        <p:nvSpPr>
          <p:cNvPr id="419" name="Google Shape;419;p27"/>
          <p:cNvSpPr txBox="1"/>
          <p:nvPr/>
        </p:nvSpPr>
        <p:spPr>
          <a:xfrm>
            <a:off x="1100137" y="3309044"/>
            <a:ext cx="4845605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Blade Templating Engine</a:t>
            </a:r>
            <a:endParaRPr/>
          </a:p>
        </p:txBody>
      </p:sp>
      <p:sp>
        <p:nvSpPr>
          <p:cNvPr id="420" name="Google Shape;420;p27"/>
          <p:cNvSpPr txBox="1"/>
          <p:nvPr/>
        </p:nvSpPr>
        <p:spPr>
          <a:xfrm>
            <a:off x="771525" y="3670994"/>
            <a:ext cx="4943475" cy="38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Mesin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template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bawaan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Laravel yang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memungkinkan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penggunaan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sintaks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PHP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ringkas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di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dalam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file HTML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secara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975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efisien</a:t>
            </a:r>
            <a:r>
              <a:rPr lang="en-US" sz="975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dirty="0"/>
          </a:p>
        </p:txBody>
      </p:sp>
      <p:sp>
        <p:nvSpPr>
          <p:cNvPr id="421" name="Google Shape;421;p27"/>
          <p:cNvSpPr txBox="1"/>
          <p:nvPr/>
        </p:nvSpPr>
        <p:spPr>
          <a:xfrm>
            <a:off x="1033462" y="4653632"/>
            <a:ext cx="4915614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REST API &amp; Resource Controller</a:t>
            </a:r>
            <a:endParaRPr dirty="0"/>
          </a:p>
        </p:txBody>
      </p:sp>
      <p:sp>
        <p:nvSpPr>
          <p:cNvPr id="422" name="Google Shape;422;p27"/>
          <p:cNvSpPr txBox="1"/>
          <p:nvPr/>
        </p:nvSpPr>
        <p:spPr>
          <a:xfrm>
            <a:off x="771525" y="5007173"/>
            <a:ext cx="4943475" cy="3836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7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Laravel mempermudah pembuatan endpoint REST API dan penanganan pengolahan data terstruktur (BREAD/Resource).</a:t>
            </a:r>
            <a:endParaRPr/>
          </a:p>
        </p:txBody>
      </p:sp>
      <p:sp>
        <p:nvSpPr>
          <p:cNvPr id="423" name="Google Shape;423;p27"/>
          <p:cNvSpPr txBox="1"/>
          <p:nvPr/>
        </p:nvSpPr>
        <p:spPr>
          <a:xfrm>
            <a:off x="6786562" y="2775198"/>
            <a:ext cx="4865608" cy="247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Fitur Bawaan Utama Laravel</a:t>
            </a:r>
            <a:endParaRPr/>
          </a:p>
        </p:txBody>
      </p:sp>
      <p:pic>
        <p:nvPicPr>
          <p:cNvPr id="424" name="Google Shape;424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71525" y="3337619"/>
            <a:ext cx="233362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5" name="Google Shape;425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71525" y="4673798"/>
            <a:ext cx="166687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6" name="Google Shape;426;p2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77000" y="2803773"/>
            <a:ext cx="214312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7" name="Google Shape;427;p27"/>
          <p:cNvSpPr txBox="1"/>
          <p:nvPr/>
        </p:nvSpPr>
        <p:spPr>
          <a:xfrm>
            <a:off x="6743700" y="3137148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Routing: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Pendefinisian URL aplikasi secara terpusat.</a:t>
            </a:r>
            <a:endParaRPr/>
          </a:p>
        </p:txBody>
      </p:sp>
      <p:sp>
        <p:nvSpPr>
          <p:cNvPr id="428" name="Google Shape;428;p27"/>
          <p:cNvSpPr txBox="1"/>
          <p:nvPr/>
        </p:nvSpPr>
        <p:spPr>
          <a:xfrm>
            <a:off x="6743700" y="3472904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Eloquent ORM: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Manipulasi database bebas SQL manual.</a:t>
            </a:r>
            <a:endParaRPr/>
          </a:p>
        </p:txBody>
      </p:sp>
      <p:sp>
        <p:nvSpPr>
          <p:cNvPr id="429" name="Google Shape;429;p27"/>
          <p:cNvSpPr txBox="1"/>
          <p:nvPr/>
        </p:nvSpPr>
        <p:spPr>
          <a:xfrm>
            <a:off x="6743700" y="3808660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Middleware Guard: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Keamanan filter request &amp; auth.</a:t>
            </a:r>
            <a:endParaRPr/>
          </a:p>
        </p:txBody>
      </p:sp>
      <p:sp>
        <p:nvSpPr>
          <p:cNvPr id="430" name="Google Shape;430;p27"/>
          <p:cNvSpPr txBox="1"/>
          <p:nvPr/>
        </p:nvSpPr>
        <p:spPr>
          <a:xfrm>
            <a:off x="6743700" y="4144416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Database Migrations: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Version control untuk skema database.</a:t>
            </a:r>
            <a:endParaRPr/>
          </a:p>
        </p:txBody>
      </p:sp>
      <p:sp>
        <p:nvSpPr>
          <p:cNvPr id="431" name="Google Shape;431;p27"/>
          <p:cNvSpPr txBox="1"/>
          <p:nvPr/>
        </p:nvSpPr>
        <p:spPr>
          <a:xfrm>
            <a:off x="6743700" y="4480173"/>
            <a:ext cx="467677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49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Artisan CLI:</a:t>
            </a:r>
            <a:r>
              <a:rPr lang="en-US" sz="1125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Command line otomatisasi pembuatan kode.</a:t>
            </a:r>
            <a:endParaRPr/>
          </a:p>
        </p:txBody>
      </p:sp>
      <p:pic>
        <p:nvPicPr>
          <p:cNvPr id="432" name="Google Shape;432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77000" y="3175248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3" name="Google Shape;433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77000" y="3511004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4" name="Google Shape;434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77000" y="3846760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77000" y="4182516"/>
            <a:ext cx="1333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p27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477000" y="4518273"/>
            <a:ext cx="13335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27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FRAMEWORK LARAVEL </a:t>
            </a: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&amp; REST API</a:t>
            </a:r>
            <a:endParaRPr dirty="0"/>
          </a:p>
        </p:txBody>
      </p:sp>
      <p:sp>
        <p:nvSpPr>
          <p:cNvPr id="438" name="Google Shape;438;p27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3482EB5-19D9-B5F9-CD37-46536B6ADE2E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13632538-178B-6737-BF29-1BE5A9310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88EBFAA4-CA6F-FC7A-A795-DC37355586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1F06EC3-4C1A-797B-AC76-961D77C69718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9" name="Rounded Rectangle 439">
            <a:extLst>
              <a:ext uri="{FF2B5EF4-FFF2-40B4-BE49-F238E27FC236}">
                <a16:creationId xmlns:a16="http://schemas.microsoft.com/office/drawing/2014/main" id="{88767F05-3CAF-CBCA-F950-82D07AD5408A}"/>
              </a:ext>
            </a:extLst>
          </p:cNvPr>
          <p:cNvSpPr/>
          <p:nvPr/>
        </p:nvSpPr>
        <p:spPr>
          <a:xfrm>
            <a:off x="6382512" y="4983480"/>
            <a:ext cx="5102352" cy="566928"/>
          </a:xfrm>
          <a:prstGeom prst="roundRect">
            <a:avLst/>
          </a:prstGeom>
          <a:solidFill>
            <a:srgbClr val="051118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8DF41A7-CCAD-F6B0-296E-3F9F2F6055CD}"/>
              </a:ext>
            </a:extLst>
          </p:cNvPr>
          <p:cNvSpPr/>
          <p:nvPr/>
        </p:nvSpPr>
        <p:spPr>
          <a:xfrm>
            <a:off x="6400800" y="5001768"/>
            <a:ext cx="5065776" cy="310896"/>
          </a:xfrm>
          <a:prstGeom prst="rect">
            <a:avLst/>
          </a:prstGeom>
          <a:solidFill>
            <a:srgbClr val="0C1C28"/>
          </a:solidFill>
          <a:ln>
            <a:solidFill>
              <a:srgbClr val="0C1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C41B15D3-AE8E-8F8E-8966-FA0F24CFC784}"/>
              </a:ext>
            </a:extLst>
          </p:cNvPr>
          <p:cNvSpPr/>
          <p:nvPr/>
        </p:nvSpPr>
        <p:spPr>
          <a:xfrm>
            <a:off x="6528816" y="5097780"/>
            <a:ext cx="64008" cy="64008"/>
          </a:xfrm>
          <a:prstGeom prst="ellipse">
            <a:avLst/>
          </a:prstGeom>
          <a:solidFill>
            <a:srgbClr val="FF5D57"/>
          </a:solidFill>
          <a:ln>
            <a:solidFill>
              <a:srgbClr val="FF5D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F23972E-89BB-C8FB-6FBA-0B4C1D07CB36}"/>
              </a:ext>
            </a:extLst>
          </p:cNvPr>
          <p:cNvSpPr/>
          <p:nvPr/>
        </p:nvSpPr>
        <p:spPr>
          <a:xfrm>
            <a:off x="6675120" y="5097780"/>
            <a:ext cx="64008" cy="64008"/>
          </a:xfrm>
          <a:prstGeom prst="ellipse">
            <a:avLst/>
          </a:prstGeom>
          <a:solidFill>
            <a:srgbClr val="FFBC2E"/>
          </a:solidFill>
          <a:ln>
            <a:solidFill>
              <a:srgbClr val="FFBC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4E45C6F0-A182-3A32-DAE4-0F881B17C77A}"/>
              </a:ext>
            </a:extLst>
          </p:cNvPr>
          <p:cNvSpPr/>
          <p:nvPr/>
        </p:nvSpPr>
        <p:spPr>
          <a:xfrm>
            <a:off x="6821424" y="5097780"/>
            <a:ext cx="64008" cy="64008"/>
          </a:xfrm>
          <a:prstGeom prst="ellipse">
            <a:avLst/>
          </a:prstGeom>
          <a:solidFill>
            <a:srgbClr val="27C93F"/>
          </a:solidFill>
          <a:ln>
            <a:solidFill>
              <a:srgbClr val="27C9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C1D812A-7ADB-58A9-5AAE-7E954155F69B}"/>
              </a:ext>
            </a:extLst>
          </p:cNvPr>
          <p:cNvSpPr txBox="1"/>
          <p:nvPr/>
        </p:nvSpPr>
        <p:spPr>
          <a:xfrm>
            <a:off x="6967728" y="5082486"/>
            <a:ext cx="3867912" cy="164592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50" b="1" dirty="0">
                <a:solidFill>
                  <a:srgbClr val="EEF6F8"/>
                </a:solidFill>
                <a:latin typeface="Aptos"/>
              </a:rPr>
              <a:t>routes/</a:t>
            </a:r>
            <a:r>
              <a:rPr sz="750" b="1" dirty="0" err="1">
                <a:solidFill>
                  <a:srgbClr val="EEF6F8"/>
                </a:solidFill>
                <a:latin typeface="Aptos"/>
              </a:rPr>
              <a:t>api.php</a:t>
            </a:r>
            <a:endParaRPr sz="750" b="1" dirty="0">
              <a:solidFill>
                <a:srgbClr val="EEF6F8"/>
              </a:solidFill>
              <a:latin typeface="Aptos"/>
            </a:endParaRPr>
          </a:p>
        </p:txBody>
      </p:sp>
      <p:sp>
        <p:nvSpPr>
          <p:cNvPr id="21" name="Rounded Rectangle 445">
            <a:extLst>
              <a:ext uri="{FF2B5EF4-FFF2-40B4-BE49-F238E27FC236}">
                <a16:creationId xmlns:a16="http://schemas.microsoft.com/office/drawing/2014/main" id="{F99CE314-B20B-4BBD-0030-658B208D9305}"/>
              </a:ext>
            </a:extLst>
          </p:cNvPr>
          <p:cNvSpPr/>
          <p:nvPr/>
        </p:nvSpPr>
        <p:spPr>
          <a:xfrm>
            <a:off x="10735056" y="5038344"/>
            <a:ext cx="621792" cy="219456"/>
          </a:xfrm>
          <a:prstGeom prst="roundRect">
            <a:avLst/>
          </a:prstGeom>
          <a:solidFill>
            <a:srgbClr val="007E82"/>
          </a:solidFill>
          <a:ln>
            <a:solidFill>
              <a:srgbClr val="007E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5720" tIns="0" rIns="45720" bIns="0" rtlCol="0" anchor="ctr"/>
          <a:lstStyle/>
          <a:p>
            <a:pPr algn="ctr"/>
            <a:r>
              <a:rPr sz="800" b="1">
                <a:solidFill>
                  <a:srgbClr val="EEF6F8"/>
                </a:solidFill>
                <a:latin typeface="Aptos"/>
              </a:rPr>
              <a:t>REST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671CD0E-AC11-98A5-2B94-F8C97C8AB42C}"/>
              </a:ext>
            </a:extLst>
          </p:cNvPr>
          <p:cNvSpPr txBox="1"/>
          <p:nvPr/>
        </p:nvSpPr>
        <p:spPr>
          <a:xfrm>
            <a:off x="6528816" y="5404104"/>
            <a:ext cx="292608" cy="54863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>
                <a:solidFill>
                  <a:srgbClr val="91A4AE"/>
                </a:solidFill>
                <a:latin typeface="Consolas"/>
              </a:rPr>
              <a:t> 1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3C10DB-226B-860C-7745-643B095896CE}"/>
              </a:ext>
            </a:extLst>
          </p:cNvPr>
          <p:cNvSpPr txBox="1"/>
          <p:nvPr/>
        </p:nvSpPr>
        <p:spPr>
          <a:xfrm>
            <a:off x="6858000" y="5404104"/>
            <a:ext cx="4462272" cy="64007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r>
              <a:rPr sz="700">
                <a:solidFill>
                  <a:srgbClr val="EEF6F8"/>
                </a:solidFill>
                <a:latin typeface="Consolas"/>
              </a:rPr>
              <a:t>Route::apiResource('users', UserController::class);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AE049885-1DC6-5F20-625C-403FD9ABE1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90" name="Google Shape;490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33400" y="2671316"/>
            <a:ext cx="11125200" cy="2484834"/>
          </a:xfrm>
          <a:prstGeom prst="rect">
            <a:avLst/>
          </a:prstGeom>
          <a:noFill/>
          <a:ln>
            <a:noFill/>
          </a:ln>
        </p:spPr>
      </p:pic>
      <p:sp>
        <p:nvSpPr>
          <p:cNvPr id="491" name="Google Shape;491;p30"/>
          <p:cNvSpPr txBox="1"/>
          <p:nvPr/>
        </p:nvSpPr>
        <p:spPr>
          <a:xfrm>
            <a:off x="533400" y="2320825"/>
            <a:ext cx="11125200" cy="2361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Kode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respon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standar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 digit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dari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server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untuk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menginfokan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status </a:t>
            </a:r>
            <a:r>
              <a:rPr lang="en-US" sz="1200" b="0" i="0" u="none" strike="noStrike" cap="none" dirty="0" err="1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permintaan</a:t>
            </a:r>
            <a:r>
              <a:rPr lang="en-US" sz="1200" b="0" i="0" u="none" strike="noStrike" cap="none" dirty="0">
                <a:solidFill>
                  <a:srgbClr val="9CA3A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browser:</a:t>
            </a:r>
            <a:endParaRPr dirty="0"/>
          </a:p>
        </p:txBody>
      </p:sp>
      <p:graphicFrame>
        <p:nvGraphicFramePr>
          <p:cNvPr id="492" name="Google Shape;492;p30"/>
          <p:cNvGraphicFramePr/>
          <p:nvPr>
            <p:extLst>
              <p:ext uri="{D42A27DB-BD31-4B8C-83A1-F6EECF244321}">
                <p14:modId xmlns:p14="http://schemas.microsoft.com/office/powerpoint/2010/main" val="3551031215"/>
              </p:ext>
            </p:extLst>
          </p:nvPr>
        </p:nvGraphicFramePr>
        <p:xfrm>
          <a:off x="542925" y="2680841"/>
          <a:ext cx="11106125" cy="2449027"/>
        </p:xfrm>
        <a:graphic>
          <a:graphicData uri="http://schemas.openxmlformats.org/drawingml/2006/table">
            <a:tbl>
              <a:tblPr firstRow="1" bandRow="1">
                <a:solidFill>
                  <a:schemeClr val="tx1"/>
                </a:solidFill>
                <a:tableStyleId>{775DCB02-9BB8-47FD-8907-85C794F793BA}</a:tableStyleId>
              </a:tblPr>
              <a:tblGrid>
                <a:gridCol w="157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2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659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6427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 dirty="0" err="1">
                          <a:solidFill>
                            <a:srgbClr val="DEFF9A"/>
                          </a:solidFill>
                          <a:sym typeface="Space Grotesk"/>
                        </a:rPr>
                        <a:t>Kategori</a:t>
                      </a:r>
                      <a:r>
                        <a:rPr lang="en-US" sz="1050" b="1" u="none" strike="noStrike" cap="none" dirty="0">
                          <a:solidFill>
                            <a:srgbClr val="DEFF9A"/>
                          </a:solidFill>
                          <a:sym typeface="Space Grotesk"/>
                        </a:rPr>
                        <a:t> Kode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DEFF9A"/>
                          </a:solidFill>
                          <a:sym typeface="Space Grotesk"/>
                        </a:rPr>
                        <a:t>Status Utama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EFF9A"/>
                          </a:solidFill>
                          <a:sym typeface="Space Grotesk"/>
                        </a:rPr>
                        <a:t>Artinya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DEFF9A"/>
                          </a:solidFill>
                          <a:sym typeface="Space Grotesk"/>
                        </a:rPr>
                        <a:t>Skenario Penggunaan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200 OK / 201 Created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Permintaan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Berhasil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Halaman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sukses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dimuat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atau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data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baru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berhasil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disimpan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2E8F0"/>
                          </a:solidFill>
                          <a:sym typeface="Plus Jakarta Sans"/>
                        </a:rPr>
                        <a:t>301 Moved Permanently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E2E8F0"/>
                          </a:solidFill>
                          <a:sym typeface="Plus Jakarta Sans"/>
                        </a:rPr>
                        <a:t>Pengalihan Halaman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URL lama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dialihkan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secara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permanen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ke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URL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baru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400 Bad Request / 401 / 403 / 404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>
                          <a:solidFill>
                            <a:srgbClr val="E2E8F0"/>
                          </a:solidFill>
                          <a:sym typeface="Plus Jakarta Sans"/>
                        </a:rPr>
                        <a:t>Kesalahan di Sisi User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URL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tidak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ditemukan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(404)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atau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user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belum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terautentikasi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(401).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31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1" u="none" strike="noStrike" cap="none">
                          <a:solidFill>
                            <a:srgbClr val="E2E8F0"/>
                          </a:solidFill>
                          <a:sym typeface="Plus Jakarta Sans"/>
                        </a:rPr>
                        <a:t>500 Internal Error / 502 Bad Gateway</a:t>
                      </a:r>
                      <a:endParaRPr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Kesalahan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di Sisi Server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Terjadi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crash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logika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pada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kodingan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backend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atau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 database </a:t>
                      </a:r>
                      <a:r>
                        <a:rPr lang="en-US" sz="1050" b="0" u="none" strike="noStrike" cap="none" dirty="0" err="1">
                          <a:solidFill>
                            <a:srgbClr val="E2E8F0"/>
                          </a:solidFill>
                          <a:sym typeface="Plus Jakarta Sans"/>
                        </a:rPr>
                        <a:t>mati</a:t>
                      </a:r>
                      <a:r>
                        <a:rPr lang="en-US" sz="1050" b="0" u="none" strike="noStrike" cap="none" dirty="0">
                          <a:solidFill>
                            <a:srgbClr val="E2E8F0"/>
                          </a:solidFill>
                          <a:sym typeface="Plus Jakarta Sans"/>
                        </a:rPr>
                        <a:t>.</a:t>
                      </a:r>
                      <a:endParaRPr dirty="0"/>
                    </a:p>
                  </a:txBody>
                  <a:tcPr marL="63500" marR="63500" marT="25400" marB="25400" anchor="ctr">
                    <a:lnL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85000"/>
                          <a:lumOff val="1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95000"/>
                        <a:lumOff val="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513" name="Google Shape;51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6579" y="3272953"/>
            <a:ext cx="942975" cy="257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4" name="Google Shape;514;p3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5616" y="3772940"/>
            <a:ext cx="1104900" cy="257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5" name="Google Shape;515;p3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94666" y="4256089"/>
            <a:ext cx="1085850" cy="25762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6" name="Google Shape;516;p3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5141" y="4744671"/>
            <a:ext cx="1095375" cy="257621"/>
          </a:xfrm>
          <a:prstGeom prst="rect">
            <a:avLst/>
          </a:prstGeom>
          <a:noFill/>
          <a:ln>
            <a:noFill/>
          </a:ln>
        </p:spPr>
      </p:pic>
      <p:sp>
        <p:nvSpPr>
          <p:cNvPr id="517" name="Google Shape;517;p30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JENIS-JENIS</a:t>
            </a:r>
            <a:r>
              <a:rPr lang="en-US" sz="2400" b="1" i="0" u="none" strike="noStrike" cap="none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 ERROR</a:t>
            </a:r>
            <a:endParaRPr dirty="0"/>
          </a:p>
        </p:txBody>
      </p:sp>
      <p:sp>
        <p:nvSpPr>
          <p:cNvPr id="518" name="Google Shape;518;p30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79950B3-B1A3-563F-5066-9F09DBBC8305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CCDFF807-2EDE-74EC-579A-31FC01B97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850A1F4-E726-9FD0-E758-DC4A44DD88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B3321E7-8177-E1A5-07CA-57C5CB814C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D16"/>
        </a:solidFill>
        <a:effectLst/>
      </p:bgPr>
    </p:bg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mage.png">
            <a:extLst>
              <a:ext uri="{FF2B5EF4-FFF2-40B4-BE49-F238E27FC236}">
                <a16:creationId xmlns:a16="http://schemas.microsoft.com/office/drawing/2014/main" id="{B1960839-F557-6E2B-DA73-7E8D240A53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24" name="Google Shape;524;p31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533400" y="2555378"/>
            <a:ext cx="3581400" cy="236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5" name="Google Shape;525;p31" descr="image.png"/>
          <p:cNvPicPr preferRelativeResize="0"/>
          <p:nvPr/>
        </p:nvPicPr>
        <p:blipFill rotWithShape="1">
          <a:blip r:embed="rId5">
            <a:alphaModFix amt="20000"/>
          </a:blip>
          <a:srcRect/>
          <a:stretch/>
        </p:blipFill>
        <p:spPr>
          <a:xfrm>
            <a:off x="4305300" y="2555378"/>
            <a:ext cx="3581400" cy="236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26" name="Google Shape;526;p31" descr="image.png"/>
          <p:cNvPicPr preferRelativeResize="0"/>
          <p:nvPr/>
        </p:nvPicPr>
        <p:blipFill rotWithShape="1">
          <a:blip r:embed="rId4">
            <a:alphaModFix amt="20000"/>
          </a:blip>
          <a:srcRect/>
          <a:stretch/>
        </p:blipFill>
        <p:spPr>
          <a:xfrm>
            <a:off x="8077200" y="2555378"/>
            <a:ext cx="3581400" cy="2366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3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71525" y="2841128"/>
            <a:ext cx="3810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3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543425" y="2841128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3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15325" y="2841128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536" name="Google Shape;536;p31"/>
          <p:cNvSpPr txBox="1"/>
          <p:nvPr/>
        </p:nvSpPr>
        <p:spPr>
          <a:xfrm>
            <a:off x="533400" y="438150"/>
            <a:ext cx="11658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FFFF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KESIMP</a:t>
            </a:r>
            <a:r>
              <a:rPr lang="en-US" sz="2400" b="1" dirty="0">
                <a:solidFill>
                  <a:srgbClr val="DEFF9A"/>
                </a:solidFill>
                <a:latin typeface="Space Grotesk"/>
                <a:ea typeface="Space Grotesk"/>
                <a:cs typeface="Space Grotesk"/>
                <a:sym typeface="Space Grotesk"/>
              </a:rPr>
              <a:t>ULAN</a:t>
            </a:r>
            <a:endParaRPr dirty="0"/>
          </a:p>
        </p:txBody>
      </p:sp>
      <p:sp>
        <p:nvSpPr>
          <p:cNvPr id="537" name="Google Shape;537;p31"/>
          <p:cNvSpPr/>
          <p:nvPr/>
        </p:nvSpPr>
        <p:spPr>
          <a:xfrm>
            <a:off x="533400" y="819150"/>
            <a:ext cx="76200" cy="285750"/>
          </a:xfrm>
          <a:prstGeom prst="roundRect">
            <a:avLst>
              <a:gd name="adj" fmla="val 50000"/>
            </a:avLst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EE4166-A174-10D2-DCB4-A10D6E58022C}"/>
              </a:ext>
            </a:extLst>
          </p:cNvPr>
          <p:cNvGrpSpPr>
            <a:grpSpLocks noChangeAspect="1"/>
          </p:cNvGrpSpPr>
          <p:nvPr/>
        </p:nvGrpSpPr>
        <p:grpSpPr>
          <a:xfrm>
            <a:off x="300811" y="6321601"/>
            <a:ext cx="1812071" cy="305438"/>
            <a:chOff x="284948" y="186248"/>
            <a:chExt cx="4368907" cy="736411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F2397AE9-6027-DA29-939F-F79798016C38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980465" y="186248"/>
              <a:ext cx="673390" cy="736411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EB5A280-3AA6-9D31-EF67-F0EE435486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1218398" y="186248"/>
              <a:ext cx="2560953" cy="736411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49FBDE9-5BA2-9B0A-A367-6BED53D3C7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84948" y="186248"/>
              <a:ext cx="648502" cy="736411"/>
            </a:xfrm>
            <a:prstGeom prst="rect">
              <a:avLst/>
            </a:prstGeom>
          </p:spPr>
        </p:pic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2BA5B43-9C05-0DBB-EF20-9824CD3B13B1}"/>
              </a:ext>
            </a:extLst>
          </p:cNvPr>
          <p:cNvSpPr txBox="1"/>
          <p:nvPr/>
        </p:nvSpPr>
        <p:spPr>
          <a:xfrm>
            <a:off x="789432" y="3149738"/>
            <a:ext cx="3078480" cy="15891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9E62B"/>
                </a:solidFill>
                <a:latin typeface="Aptos"/>
              </a:defRPr>
            </a:pPr>
            <a:r>
              <a:rPr dirty="0"/>
              <a:t>Dasar Utama</a:t>
            </a:r>
          </a:p>
          <a:p>
            <a:pPr>
              <a:spcAft>
                <a:spcPts val="0"/>
              </a:spcAft>
              <a:defRPr sz="940">
                <a:solidFill>
                  <a:srgbClr val="CDD4D6"/>
                </a:solidFill>
                <a:latin typeface="Aptos"/>
              </a:defRPr>
            </a:pPr>
            <a:r>
              <a:rPr dirty="0"/>
              <a:t>HTML = </a:t>
            </a:r>
            <a:r>
              <a:rPr dirty="0" err="1"/>
              <a:t>struktur</a:t>
            </a:r>
            <a:r>
              <a:rPr dirty="0"/>
              <a:t>, CSS = </a:t>
            </a:r>
            <a:r>
              <a:rPr dirty="0" err="1"/>
              <a:t>tampilan</a:t>
            </a:r>
            <a:r>
              <a:rPr dirty="0"/>
              <a:t>, JS = </a:t>
            </a:r>
            <a:r>
              <a:rPr dirty="0" err="1"/>
              <a:t>interaksi</a:t>
            </a:r>
            <a:r>
              <a:rPr dirty="0"/>
              <a:t>. </a:t>
            </a:r>
            <a:r>
              <a:rPr dirty="0" err="1"/>
              <a:t>Ketiganya</a:t>
            </a:r>
            <a:r>
              <a:rPr dirty="0"/>
              <a:t> </a:t>
            </a:r>
            <a:r>
              <a:rPr dirty="0" err="1"/>
              <a:t>membentuk</a:t>
            </a:r>
            <a:r>
              <a:rPr dirty="0"/>
              <a:t> </a:t>
            </a:r>
            <a:r>
              <a:rPr dirty="0" err="1"/>
              <a:t>bagian</a:t>
            </a:r>
            <a:r>
              <a:rPr dirty="0"/>
              <a:t> website yang </a:t>
            </a:r>
            <a:r>
              <a:rPr dirty="0" err="1"/>
              <a:t>dilihat</a:t>
            </a:r>
            <a:r>
              <a:rPr dirty="0"/>
              <a:t> </a:t>
            </a:r>
            <a:r>
              <a:rPr dirty="0" err="1"/>
              <a:t>pengguna</a:t>
            </a:r>
            <a:r>
              <a:rPr dirty="0"/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3871C4-8FCA-FF8A-26D2-0AF9594563E8}"/>
              </a:ext>
            </a:extLst>
          </p:cNvPr>
          <p:cNvSpPr txBox="1"/>
          <p:nvPr/>
        </p:nvSpPr>
        <p:spPr>
          <a:xfrm>
            <a:off x="4561332" y="3149738"/>
            <a:ext cx="3078480" cy="8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9E62B"/>
                </a:solidFill>
                <a:latin typeface="Aptos"/>
              </a:defRPr>
            </a:pPr>
            <a:r>
              <a:rPr dirty="0"/>
              <a:t>Alur </a:t>
            </a:r>
          </a:p>
          <a:p>
            <a:pPr>
              <a:spcAft>
                <a:spcPts val="0"/>
              </a:spcAft>
              <a:defRPr sz="940">
                <a:solidFill>
                  <a:srgbClr val="CDD4D6"/>
                </a:solidFill>
                <a:latin typeface="Aptos"/>
              </a:defRPr>
            </a:pPr>
            <a:r>
              <a:rPr dirty="0"/>
              <a:t>Client </a:t>
            </a:r>
            <a:r>
              <a:rPr dirty="0" err="1"/>
              <a:t>meminta</a:t>
            </a:r>
            <a:r>
              <a:rPr dirty="0"/>
              <a:t> </a:t>
            </a:r>
            <a:r>
              <a:rPr dirty="0" err="1"/>
              <a:t>halaman</a:t>
            </a:r>
            <a:r>
              <a:rPr dirty="0"/>
              <a:t> </a:t>
            </a:r>
            <a:r>
              <a:rPr dirty="0" err="1"/>
              <a:t>atau</a:t>
            </a:r>
            <a:r>
              <a:rPr dirty="0"/>
              <a:t> data. Server </a:t>
            </a:r>
            <a:r>
              <a:rPr dirty="0" err="1"/>
              <a:t>memproses</a:t>
            </a:r>
            <a:r>
              <a:rPr dirty="0"/>
              <a:t> </a:t>
            </a:r>
            <a:r>
              <a:rPr dirty="0" err="1"/>
              <a:t>logika</a:t>
            </a:r>
            <a:r>
              <a:rPr dirty="0"/>
              <a:t>. Database </a:t>
            </a:r>
            <a:r>
              <a:rPr dirty="0" err="1"/>
              <a:t>menyimpan</a:t>
            </a:r>
            <a:r>
              <a:rPr dirty="0"/>
              <a:t> </a:t>
            </a:r>
            <a:r>
              <a:rPr dirty="0" err="1"/>
              <a:t>informasi</a:t>
            </a:r>
            <a:r>
              <a:rPr dirty="0"/>
              <a:t> yang </a:t>
            </a:r>
            <a:r>
              <a:rPr dirty="0" err="1"/>
              <a:t>dibutuhkan</a:t>
            </a:r>
            <a:r>
              <a:rPr dirty="0"/>
              <a:t>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E84753-4515-3753-DF07-AE296F69C07D}"/>
              </a:ext>
            </a:extLst>
          </p:cNvPr>
          <p:cNvSpPr txBox="1"/>
          <p:nvPr/>
        </p:nvSpPr>
        <p:spPr>
          <a:xfrm>
            <a:off x="8333232" y="3149738"/>
            <a:ext cx="3078480" cy="828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A9E62B"/>
                </a:solidFill>
                <a:latin typeface="Aptos"/>
              </a:defRPr>
            </a:pPr>
            <a:r>
              <a:rPr lang="en-US" dirty="0"/>
              <a:t>Framework</a:t>
            </a:r>
            <a:endParaRPr dirty="0"/>
          </a:p>
          <a:p>
            <a:pPr>
              <a:spcAft>
                <a:spcPts val="0"/>
              </a:spcAft>
              <a:defRPr sz="940">
                <a:solidFill>
                  <a:srgbClr val="CDD4D6"/>
                </a:solidFill>
                <a:latin typeface="Aptos"/>
              </a:defRPr>
            </a:pPr>
            <a:r>
              <a:rPr dirty="0" err="1"/>
              <a:t>M</a:t>
            </a:r>
            <a:r>
              <a:rPr lang="en-US" dirty="0" err="1"/>
              <a:t>embantu</a:t>
            </a:r>
            <a:r>
              <a:rPr lang="en-US" dirty="0"/>
              <a:t> </a:t>
            </a:r>
            <a:r>
              <a:rPr lang="en-US" dirty="0" err="1"/>
              <a:t>pengembang</a:t>
            </a:r>
            <a:r>
              <a:rPr lang="en-US" dirty="0"/>
              <a:t> web </a:t>
            </a:r>
            <a:r>
              <a:rPr lang="en-US" dirty="0" err="1"/>
              <a:t>menulis</a:t>
            </a:r>
            <a:r>
              <a:rPr lang="en-US" dirty="0"/>
              <a:t> </a:t>
            </a:r>
            <a:r>
              <a:rPr lang="en-US" dirty="0" err="1"/>
              <a:t>kode</a:t>
            </a:r>
            <a:r>
              <a:rPr lang="en-US" dirty="0"/>
              <a:t> </a:t>
            </a:r>
            <a:r>
              <a:rPr lang="en-US" dirty="0" err="1"/>
              <a:t>secara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cepat</a:t>
            </a:r>
            <a:r>
              <a:rPr lang="en-US" dirty="0"/>
              <a:t>, </a:t>
            </a:r>
            <a:r>
              <a:rPr lang="en-US" dirty="0" err="1"/>
              <a:t>terstruktur</a:t>
            </a:r>
            <a:r>
              <a:rPr lang="en-US" dirty="0"/>
              <a:t>, dan </a:t>
            </a:r>
            <a:r>
              <a:rPr lang="en-US" dirty="0" err="1"/>
              <a:t>aman</a:t>
            </a:r>
            <a:r>
              <a:rPr lang="en-US" dirty="0"/>
              <a:t> </a:t>
            </a:r>
            <a:r>
              <a:rPr lang="en-US" dirty="0" err="1"/>
              <a:t>tanpa</a:t>
            </a:r>
            <a:r>
              <a:rPr lang="en-US" dirty="0"/>
              <a:t>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membangun</a:t>
            </a:r>
            <a:r>
              <a:rPr lang="en-US" dirty="0"/>
              <a:t> </a:t>
            </a:r>
            <a:r>
              <a:rPr lang="en-US" dirty="0" err="1"/>
              <a:t>fungsi</a:t>
            </a:r>
            <a:r>
              <a:rPr lang="en-US" dirty="0"/>
              <a:t> </a:t>
            </a:r>
            <a:r>
              <a:rPr lang="en-US" dirty="0" err="1"/>
              <a:t>dasar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nol.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4F8FA9-E5B6-4344-88BD-D1B36DA40121}">
  <we:reference id="wa200005566" version="3.0.0.3" store="id-ID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1162</TotalTime>
  <Words>1512</Words>
  <Application>Microsoft Office PowerPoint</Application>
  <PresentationFormat>Widescreen</PresentationFormat>
  <Paragraphs>173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Space Grotesk</vt:lpstr>
      <vt:lpstr>Plus Jakarta Sans</vt:lpstr>
      <vt:lpstr>Arial</vt:lpstr>
      <vt:lpstr>Consolas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Rendi Pratama</cp:lastModifiedBy>
  <cp:revision>16</cp:revision>
  <dcterms:modified xsi:type="dcterms:W3CDTF">2026-07-25T05:13:57Z</dcterms:modified>
</cp:coreProperties>
</file>